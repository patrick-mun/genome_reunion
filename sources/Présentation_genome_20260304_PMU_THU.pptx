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3F60"/>
    <a:srgbClr val="EFF3F6"/>
    <a:srgbClr val="BBC5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1395" autoAdjust="0"/>
  </p:normalViewPr>
  <p:slideViewPr>
    <p:cSldViewPr snapToGrid="0">
      <p:cViewPr varScale="1">
        <p:scale>
          <a:sx n="70" d="100"/>
          <a:sy n="70" d="100"/>
        </p:scale>
        <p:origin x="2094" y="7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223BAE-2340-428B-BA34-93FDB3B7158C}" type="datetimeFigureOut">
              <a:rPr lang="fr-FR" smtClean="0"/>
              <a:t>04/03/2026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F46777-C27D-46EC-B16A-9D0B5FF2F26D}" type="slidenum">
              <a:rPr lang="fr-FR" smtClean="0"/>
              <a:t>‹N°›</a:t>
            </a:fld>
            <a:endParaRPr lang="fr-FR"/>
          </a:p>
        </p:txBody>
      </p:sp>
    </p:spTree>
    <p:extLst>
      <p:ext uri="{BB962C8B-B14F-4D97-AF65-F5344CB8AC3E}">
        <p14:creationId xmlns:p14="http://schemas.microsoft.com/office/powerpoint/2010/main" val="591186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effectLst/>
              </a:rPr>
              <a:t>L’enthousiasme suscité en 2003 par le séquençage du premier génome humain, pierre angulaire de la médecine de précision, se heurte à un obstacle méthodologique majeur. Près de </a:t>
            </a:r>
            <a:r>
              <a:rPr lang="fr-FR" b="0" dirty="0">
                <a:effectLst/>
              </a:rPr>
              <a:t>7/8 de la population mondiale est absente ou sous-représentée </a:t>
            </a:r>
            <a:r>
              <a:rPr lang="fr-FR" dirty="0">
                <a:effectLst/>
              </a:rPr>
              <a:t>dans les référentiels internationaux, créant une véritable </a:t>
            </a:r>
            <a:r>
              <a:rPr lang="fr-FR" b="0" dirty="0">
                <a:effectLst/>
              </a:rPr>
              <a:t>injustice épistémique</a:t>
            </a:r>
            <a:r>
              <a:rPr lang="fr-FR" dirty="0">
                <a:effectLst/>
              </a:rPr>
              <a:t>.</a:t>
            </a:r>
          </a:p>
          <a:p>
            <a:endParaRPr lang="fr-FR" dirty="0">
              <a:effectLst/>
            </a:endParaRPr>
          </a:p>
          <a:p>
            <a:r>
              <a:rPr lang="fr-FR" dirty="0">
                <a:effectLst/>
              </a:rPr>
              <a:t>Aujourd’hui, le constat est sans appel : les outils de diagnostic et les thérapies sont optimisés pour les populations européennes, au détriment de l'équité des soins pour le reste de l'humanité. Pour les populations au métissage complexe, comme celle de </a:t>
            </a:r>
            <a:r>
              <a:rPr lang="fr-FR" b="0" dirty="0">
                <a:effectLst/>
              </a:rPr>
              <a:t>La Réunion</a:t>
            </a:r>
            <a:r>
              <a:rPr lang="fr-FR" dirty="0">
                <a:effectLst/>
              </a:rPr>
              <a:t>, cette invisibilité génétique est quasi totale. Le projet </a:t>
            </a:r>
            <a:r>
              <a:rPr lang="fr-FR" b="1" dirty="0">
                <a:effectLst/>
              </a:rPr>
              <a:t>Génome Réunion</a:t>
            </a:r>
            <a:r>
              <a:rPr lang="fr-FR" dirty="0">
                <a:effectLst/>
              </a:rPr>
              <a:t> a pour ambition de rétablir cet équilibre et de garantir pour les Réunionnais une médecine juste et adaptée à sa propre réalité biologique. </a:t>
            </a:r>
          </a:p>
          <a:p>
            <a:endParaRPr lang="fr-FR"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effectLst/>
              </a:rPr>
              <a:t>(transition)</a:t>
            </a:r>
            <a:r>
              <a:rPr lang="fr-FR" b="1" baseline="0" dirty="0">
                <a:effectLst/>
              </a:rPr>
              <a:t> </a:t>
            </a:r>
            <a:r>
              <a:rPr lang="fr-FR" dirty="0">
                <a:effectLst/>
              </a:rPr>
              <a:t>« Face à ce constat, l’urgence est aujourd’hui de passer de l’observation à l’action en bâtissant notre propre autonomie génomique. »</a:t>
            </a:r>
            <a:endParaRPr lang="fr-FR" b="1" dirty="0">
              <a:effectLst/>
            </a:endParaRPr>
          </a:p>
        </p:txBody>
      </p:sp>
      <p:sp>
        <p:nvSpPr>
          <p:cNvPr id="4" name="Espace réservé du numéro de diapositive 3"/>
          <p:cNvSpPr>
            <a:spLocks noGrp="1"/>
          </p:cNvSpPr>
          <p:nvPr>
            <p:ph type="sldNum" sz="quarter" idx="10"/>
          </p:nvPr>
        </p:nvSpPr>
        <p:spPr/>
        <p:txBody>
          <a:bodyPr/>
          <a:lstStyle/>
          <a:p>
            <a:fld id="{42F46777-C27D-46EC-B16A-9D0B5FF2F26D}" type="slidenum">
              <a:rPr lang="fr-FR" smtClean="0"/>
              <a:t>1</a:t>
            </a:fld>
            <a:endParaRPr lang="fr-FR"/>
          </a:p>
        </p:txBody>
      </p:sp>
    </p:spTree>
    <p:extLst>
      <p:ext uri="{BB962C8B-B14F-4D97-AF65-F5344CB8AC3E}">
        <p14:creationId xmlns:p14="http://schemas.microsoft.com/office/powerpoint/2010/main" val="3083984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effectLst/>
              </a:rPr>
              <a:t>(transition) </a:t>
            </a:r>
            <a:r>
              <a:rPr lang="fr-FR" dirty="0">
                <a:effectLst/>
              </a:rPr>
              <a:t>« Face à ce constat, l’urgence est aujourd’hui de passer de l’observation à l’action en bâtissant notre propre autonomie génomique. »</a:t>
            </a:r>
          </a:p>
          <a:p>
            <a:endParaRPr lang="fr-FR" dirty="0">
              <a:effectLst/>
            </a:endParaRPr>
          </a:p>
          <a:p>
            <a:r>
              <a:rPr lang="fr-FR" dirty="0">
                <a:effectLst/>
              </a:rPr>
              <a:t>Pour comprendre cette nécessité, nous allons explorer l’étendue de notre démarche à travers trois axes fondamentaux :</a:t>
            </a:r>
          </a:p>
          <a:p>
            <a:endParaRPr lang="fr-FR" dirty="0">
              <a:effectLst/>
            </a:endParaRPr>
          </a:p>
          <a:p>
            <a:pPr marL="228600" indent="-228600">
              <a:buAutoNum type="arabicPeriod"/>
            </a:pPr>
            <a:r>
              <a:rPr lang="fr-FR" sz="1200" b="0" i="0" kern="1200" dirty="0">
                <a:solidFill>
                  <a:schemeClr val="tx1"/>
                </a:solidFill>
                <a:effectLst/>
                <a:latin typeface="+mn-lt"/>
                <a:ea typeface="+mn-ea"/>
                <a:cs typeface="+mn-cs"/>
              </a:rPr>
              <a:t>D'abord, nous identifierons les angles morts de la médecine de précision où l’absence de données </a:t>
            </a:r>
            <a:r>
              <a:rPr lang="fr-FR" sz="1200" b="0" i="0" kern="1200" dirty="0" smtClean="0">
                <a:solidFill>
                  <a:schemeClr val="tx1"/>
                </a:solidFill>
                <a:effectLst/>
                <a:latin typeface="+mn-lt"/>
                <a:ea typeface="+mn-ea"/>
                <a:cs typeface="+mn-cs"/>
              </a:rPr>
              <a:t>adaptées </a:t>
            </a:r>
            <a:r>
              <a:rPr lang="fr-FR" sz="1200" b="0" i="0" kern="1200" dirty="0">
                <a:solidFill>
                  <a:schemeClr val="tx1"/>
                </a:solidFill>
                <a:effectLst/>
                <a:latin typeface="+mn-lt"/>
                <a:ea typeface="+mn-ea"/>
                <a:cs typeface="+mn-cs"/>
              </a:rPr>
              <a:t>nous exclut de fait des standards de soins mondiaux.</a:t>
            </a:r>
          </a:p>
          <a:p>
            <a:pPr marL="228600" indent="-228600">
              <a:buAutoNum type="arabicPeriod"/>
            </a:pPr>
            <a:endParaRPr lang="fr-FR" sz="1200" b="0" i="0" kern="1200" dirty="0">
              <a:solidFill>
                <a:schemeClr val="tx1"/>
              </a:solidFill>
              <a:effectLst/>
              <a:latin typeface="+mn-lt"/>
              <a:ea typeface="+mn-ea"/>
              <a:cs typeface="+mn-cs"/>
            </a:endParaRPr>
          </a:p>
          <a:p>
            <a:r>
              <a:rPr lang="fr-FR" sz="1200" b="0" i="0" kern="1200" dirty="0">
                <a:solidFill>
                  <a:schemeClr val="tx1"/>
                </a:solidFill>
                <a:effectLst/>
                <a:latin typeface="+mn-lt"/>
                <a:ea typeface="+mn-ea"/>
                <a:cs typeface="+mn-cs"/>
              </a:rPr>
              <a:t>2. Ensuite, nous analyserons la singularité biologique de La Réunion, ce "laboratoire d’histoire humaine" dont le métissage et les effets fondateurs ont façonné un patrimoine génétique unique au monde,,.</a:t>
            </a:r>
          </a:p>
          <a:p>
            <a:endParaRPr lang="fr-FR" sz="1200" b="0" i="0" kern="1200" dirty="0">
              <a:solidFill>
                <a:schemeClr val="tx1"/>
              </a:solidFill>
              <a:effectLst/>
              <a:latin typeface="+mn-lt"/>
              <a:ea typeface="+mn-ea"/>
              <a:cs typeface="+mn-cs"/>
            </a:endParaRPr>
          </a:p>
          <a:p>
            <a:r>
              <a:rPr lang="fr-FR" sz="1200" b="0" i="0" kern="1200" dirty="0">
                <a:solidFill>
                  <a:schemeClr val="tx1"/>
                </a:solidFill>
                <a:effectLst/>
                <a:latin typeface="+mn-lt"/>
                <a:ea typeface="+mn-ea"/>
                <a:cs typeface="+mn-cs"/>
              </a:rPr>
              <a:t>3. Enfin, nous aborderons les risques cliniques et technologiques concrets, des erreurs de diagnostic aux dangers d'une intelligence artificielle entraînée sur des données biaisées,,.</a:t>
            </a:r>
          </a:p>
          <a:p>
            <a:endParaRPr lang="fr-FR" sz="1200" b="0" i="0" kern="1200" dirty="0">
              <a:solidFill>
                <a:schemeClr val="tx1"/>
              </a:solidFill>
              <a:effectLst/>
              <a:latin typeface="+mn-lt"/>
              <a:ea typeface="+mn-ea"/>
              <a:cs typeface="+mn-cs"/>
            </a:endParaRPr>
          </a:p>
          <a:p>
            <a:r>
              <a:rPr lang="fr-FR" dirty="0">
                <a:effectLst/>
              </a:rPr>
              <a:t>Ce parcours nous mènera logiquement à la </a:t>
            </a:r>
            <a:r>
              <a:rPr lang="fr-FR" b="0" dirty="0">
                <a:effectLst/>
              </a:rPr>
              <a:t>solution</a:t>
            </a:r>
            <a:r>
              <a:rPr lang="fr-FR" dirty="0">
                <a:effectLst/>
              </a:rPr>
              <a:t> que nous déployons aujourd'hui pour sécuriser la santé de tous les Réunionnais : la création d'un référentiel génomique local.</a:t>
            </a:r>
          </a:p>
          <a:p>
            <a:endParaRPr lang="fr-FR" dirty="0"/>
          </a:p>
          <a:p>
            <a:r>
              <a:rPr lang="fr-FR" b="1" dirty="0">
                <a:effectLst/>
              </a:rPr>
              <a:t>(Transition) :</a:t>
            </a:r>
            <a:r>
              <a:rPr lang="fr-FR" dirty="0">
                <a:effectLst/>
              </a:rPr>
              <a:t> « Abordons maintenant notre premier axe : l’angle mort de la médecine génomique actuelle. »</a:t>
            </a:r>
          </a:p>
          <a:p>
            <a:endParaRPr lang="fr-FR" dirty="0"/>
          </a:p>
        </p:txBody>
      </p:sp>
      <p:sp>
        <p:nvSpPr>
          <p:cNvPr id="4" name="Espace réservé du numéro de diapositive 3"/>
          <p:cNvSpPr>
            <a:spLocks noGrp="1"/>
          </p:cNvSpPr>
          <p:nvPr>
            <p:ph type="sldNum" sz="quarter" idx="5"/>
          </p:nvPr>
        </p:nvSpPr>
        <p:spPr/>
        <p:txBody>
          <a:bodyPr/>
          <a:lstStyle/>
          <a:p>
            <a:fld id="{42F46777-C27D-46EC-B16A-9D0B5FF2F26D}" type="slidenum">
              <a:rPr lang="fr-FR" smtClean="0"/>
              <a:t>2</a:t>
            </a:fld>
            <a:endParaRPr lang="fr-FR"/>
          </a:p>
        </p:txBody>
      </p:sp>
    </p:spTree>
    <p:extLst>
      <p:ext uri="{BB962C8B-B14F-4D97-AF65-F5344CB8AC3E}">
        <p14:creationId xmlns:p14="http://schemas.microsoft.com/office/powerpoint/2010/main" val="3603240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(Transition)</a:t>
            </a:r>
            <a:r>
              <a:rPr lang="fr-FR" dirty="0"/>
              <a:t>« Abordons maintenant notre premier axe : l’angle mort de la médecine génomique actuelle. »</a:t>
            </a:r>
          </a:p>
          <a:p>
            <a:endParaRPr lang="fr-FR" dirty="0"/>
          </a:p>
          <a:p>
            <a:r>
              <a:rPr lang="fr-FR" dirty="0"/>
              <a:t>Les premières alertes sur les biais de recrutement des bases de données mondiales remontent à 2005, peu après la finalisation du premier génome humain. À l’époque, près de 96 % des séquences de référence étaient d’origine européenne.</a:t>
            </a:r>
          </a:p>
          <a:p>
            <a:endParaRPr lang="fr-FR" dirty="0"/>
          </a:p>
          <a:p>
            <a:r>
              <a:rPr lang="fr-FR" dirty="0"/>
              <a:t>En 2016, l’article de </a:t>
            </a:r>
            <a:r>
              <a:rPr lang="fr-FR" dirty="0" err="1"/>
              <a:t>Popejoy</a:t>
            </a:r>
            <a:r>
              <a:rPr lang="fr-FR" dirty="0"/>
              <a:t> et </a:t>
            </a:r>
            <a:r>
              <a:rPr lang="fr-FR" dirty="0" err="1"/>
              <a:t>Fullerton</a:t>
            </a:r>
            <a:r>
              <a:rPr lang="fr-FR" dirty="0"/>
              <a:t> dans </a:t>
            </a:r>
            <a:r>
              <a:rPr lang="fr-FR" i="1" dirty="0"/>
              <a:t>Nature</a:t>
            </a:r>
            <a:r>
              <a:rPr lang="fr-FR" dirty="0"/>
              <a:t> tirait la sonnette d’alarme : 81 % des études GWAS restaient centrées sur l’Europe, contre seulement 3 % pour les populations d’ascendance africaine. Malgré des initiatives majeures comme H3Africa, le constat dressé par </a:t>
            </a:r>
            <a:r>
              <a:rPr lang="fr-FR" dirty="0" err="1"/>
              <a:t>Fatumo</a:t>
            </a:r>
            <a:r>
              <a:rPr lang="fr-FR" dirty="0"/>
              <a:t> et al. en 2022 reste préoccupant : les populations africaines demeurent massivement sous-représentées dans les grandes bases génomiques mondiales.</a:t>
            </a:r>
          </a:p>
          <a:p>
            <a:endParaRPr lang="fr-FR" dirty="0"/>
          </a:p>
          <a:p>
            <a:r>
              <a:rPr lang="fr-FR" dirty="0"/>
              <a:t>Pour une population au métissage complexe comme celle de La Réunion, cette sous-représentation constitue un véritable angle mort. Il ne s’agit pas uniquement d’un problème statistique : c’est un échec de transférabilité des modèles génétiques. Lorsque les fréquences alléliques, les structures de déséquilibre de liaison et les architectures </a:t>
            </a:r>
            <a:r>
              <a:rPr lang="fr-FR" dirty="0" err="1"/>
              <a:t>haplotypiques</a:t>
            </a:r>
            <a:r>
              <a:rPr lang="fr-FR" dirty="0"/>
              <a:t> diffèrent des populations d’entraînement, les algorithmes d’imputation et les scores de risque polygénique perdent en validité et en robustesse lorsqu’ils sont appliqués à nos patients. </a:t>
            </a:r>
            <a:br>
              <a:rPr lang="fr-FR" dirty="0"/>
            </a:br>
            <a:r>
              <a:rPr lang="fr-FR" dirty="0"/>
              <a:t/>
            </a:r>
            <a:br>
              <a:rPr lang="fr-FR" dirty="0"/>
            </a:br>
            <a:r>
              <a:rPr lang="fr-FR" b="1" dirty="0"/>
              <a:t>(transition) </a:t>
            </a:r>
            <a:r>
              <a:rPr lang="fr-FR" dirty="0"/>
              <a:t>Pour bien comprendre les implications au niveau de La Réunion</a:t>
            </a:r>
          </a:p>
          <a:p>
            <a:endParaRPr lang="fr-FR" dirty="0"/>
          </a:p>
        </p:txBody>
      </p:sp>
      <p:sp>
        <p:nvSpPr>
          <p:cNvPr id="4" name="Espace réservé du numéro de diapositive 3"/>
          <p:cNvSpPr>
            <a:spLocks noGrp="1"/>
          </p:cNvSpPr>
          <p:nvPr>
            <p:ph type="sldNum" sz="quarter" idx="10"/>
          </p:nvPr>
        </p:nvSpPr>
        <p:spPr/>
        <p:txBody>
          <a:bodyPr/>
          <a:lstStyle/>
          <a:p>
            <a:fld id="{42F46777-C27D-46EC-B16A-9D0B5FF2F26D}" type="slidenum">
              <a:rPr lang="fr-FR" smtClean="0"/>
              <a:t>3</a:t>
            </a:fld>
            <a:endParaRPr lang="fr-FR"/>
          </a:p>
        </p:txBody>
      </p:sp>
    </p:spTree>
    <p:extLst>
      <p:ext uri="{BB962C8B-B14F-4D97-AF65-F5344CB8AC3E}">
        <p14:creationId xmlns:p14="http://schemas.microsoft.com/office/powerpoint/2010/main" val="1603477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
            </a:r>
            <a:br>
              <a:rPr lang="fr-FR" dirty="0"/>
            </a:br>
            <a:r>
              <a:rPr lang="fr-FR" b="1" dirty="0"/>
              <a:t>(transition) </a:t>
            </a:r>
            <a:r>
              <a:rPr lang="fr-FR" dirty="0"/>
              <a:t>Pour bien comprendre les implications au niveau de La Réunion.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effectLst/>
              </a:rPr>
              <a:t>il faut comprendre son histoire. Comme l'a écrit Prosper Ève, La Réunion est un </a:t>
            </a:r>
            <a:r>
              <a:rPr lang="fr-FR" b="0" dirty="0">
                <a:effectLst/>
              </a:rPr>
              <a:t>"monde recomposé"</a:t>
            </a:r>
            <a:r>
              <a:rPr lang="fr-FR" dirty="0">
                <a:effectLst/>
              </a:rPr>
              <a:t>. Depuis 1663, sans population autochtone, l'île a vu converger des fragments d'identités transplantées d'Afrique, d'Europe et d'Asie. Cette </a:t>
            </a:r>
            <a:r>
              <a:rPr lang="fr-FR" b="0" dirty="0">
                <a:effectLst/>
              </a:rPr>
              <a:t>créolisation biologique </a:t>
            </a:r>
            <a:r>
              <a:rPr lang="fr-FR" dirty="0">
                <a:effectLst/>
              </a:rPr>
              <a:t>est inscrite dans son ADN. Chaque Réunionnais porte en lui une combinaison génétique inédite, une mosaïque issue de l'esclavage, de l'</a:t>
            </a:r>
            <a:r>
              <a:rPr lang="fr-FR" dirty="0" err="1">
                <a:effectLst/>
              </a:rPr>
              <a:t>engagisme</a:t>
            </a:r>
            <a:r>
              <a:rPr lang="fr-FR" dirty="0">
                <a:effectLst/>
              </a:rPr>
              <a:t> et des migrations régionales.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effectLst/>
              </a:rPr>
              <a:t>(Transition) </a:t>
            </a:r>
            <a:r>
              <a:rPr lang="fr-FR" b="0" dirty="0">
                <a:effectLst/>
              </a:rPr>
              <a:t>résultat</a:t>
            </a:r>
            <a:r>
              <a:rPr lang="fr-FR" b="1" dirty="0">
                <a:effectLst/>
              </a:rPr>
              <a:t> </a:t>
            </a:r>
            <a:r>
              <a:rPr lang="fr-FR" b="0" dirty="0">
                <a:effectLst/>
              </a:rPr>
              <a:t>de</a:t>
            </a:r>
            <a:r>
              <a:rPr lang="fr-FR" b="0" baseline="0" dirty="0">
                <a:effectLst/>
              </a:rPr>
              <a:t> cette combinaison génétique inédite.</a:t>
            </a:r>
            <a:endParaRPr lang="fr-FR" b="0" dirty="0">
              <a:effectLst/>
            </a:endParaRPr>
          </a:p>
          <a:p>
            <a:endParaRPr lang="fr-FR" dirty="0"/>
          </a:p>
        </p:txBody>
      </p:sp>
      <p:sp>
        <p:nvSpPr>
          <p:cNvPr id="4" name="Espace réservé du numéro de diapositive 3"/>
          <p:cNvSpPr>
            <a:spLocks noGrp="1"/>
          </p:cNvSpPr>
          <p:nvPr>
            <p:ph type="sldNum" sz="quarter" idx="5"/>
          </p:nvPr>
        </p:nvSpPr>
        <p:spPr/>
        <p:txBody>
          <a:bodyPr/>
          <a:lstStyle/>
          <a:p>
            <a:fld id="{42F46777-C27D-46EC-B16A-9D0B5FF2F26D}" type="slidenum">
              <a:rPr lang="fr-FR" smtClean="0"/>
              <a:t>4</a:t>
            </a:fld>
            <a:endParaRPr lang="fr-FR"/>
          </a:p>
        </p:txBody>
      </p:sp>
    </p:spTree>
    <p:extLst>
      <p:ext uri="{BB962C8B-B14F-4D97-AF65-F5344CB8AC3E}">
        <p14:creationId xmlns:p14="http://schemas.microsoft.com/office/powerpoint/2010/main" val="10738340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effectLst/>
              </a:rPr>
              <a:t>(Transition)</a:t>
            </a:r>
            <a:r>
              <a:rPr lang="fr-FR" b="0" dirty="0">
                <a:effectLst/>
              </a:rPr>
              <a:t> issu de</a:t>
            </a:r>
            <a:r>
              <a:rPr lang="fr-FR" b="0" baseline="0" dirty="0">
                <a:effectLst/>
              </a:rPr>
              <a:t> cette combinaison génétique inédite.</a:t>
            </a:r>
            <a:endParaRPr lang="fr-FR" b="0" dirty="0">
              <a:effectLst/>
            </a:endParaRPr>
          </a:p>
          <a:p>
            <a:endParaRPr lang="fr-FR" dirty="0"/>
          </a:p>
          <a:p>
            <a:r>
              <a:rPr lang="fr-FR" sz="1200" b="0" i="0" kern="1200" dirty="0">
                <a:solidFill>
                  <a:schemeClr val="tx1"/>
                </a:solidFill>
                <a:effectLst/>
                <a:latin typeface="+mn-lt"/>
                <a:ea typeface="+mn-ea"/>
                <a:cs typeface="+mn-cs"/>
              </a:rPr>
              <a:t>Le génome des Réunionnais</a:t>
            </a:r>
            <a:r>
              <a:rPr lang="fr-FR" sz="1200" b="0" i="0" kern="1200" baseline="0" dirty="0">
                <a:solidFill>
                  <a:schemeClr val="tx1"/>
                </a:solidFill>
                <a:effectLst/>
                <a:latin typeface="+mn-lt"/>
                <a:ea typeface="+mn-ea"/>
                <a:cs typeface="+mn-cs"/>
              </a:rPr>
              <a:t> </a:t>
            </a:r>
            <a:r>
              <a:rPr lang="fr-FR" sz="1200" b="0" i="0" kern="1200" dirty="0">
                <a:solidFill>
                  <a:schemeClr val="tx1"/>
                </a:solidFill>
                <a:effectLst/>
                <a:latin typeface="+mn-lt"/>
                <a:ea typeface="+mn-ea"/>
                <a:cs typeface="+mn-cs"/>
              </a:rPr>
              <a:t>est marqué par deux phénomènes opposés mais coexistant. D'un côté, l'</a:t>
            </a:r>
            <a:r>
              <a:rPr lang="fr-FR" sz="1200" b="0" i="0" kern="1200" dirty="0" err="1">
                <a:solidFill>
                  <a:schemeClr val="tx1"/>
                </a:solidFill>
                <a:effectLst/>
                <a:latin typeface="+mn-lt"/>
                <a:ea typeface="+mn-ea"/>
                <a:cs typeface="+mn-cs"/>
              </a:rPr>
              <a:t>Admixture</a:t>
            </a:r>
            <a:r>
              <a:rPr lang="fr-FR" sz="1200" b="0" i="0" kern="1200" dirty="0">
                <a:solidFill>
                  <a:schemeClr val="tx1"/>
                </a:solidFill>
                <a:effectLst/>
                <a:latin typeface="+mn-lt"/>
                <a:ea typeface="+mn-ea"/>
                <a:cs typeface="+mn-cs"/>
              </a:rPr>
              <a:t>, un métissage riche et complexe qui rend l'analyse ardue sans base locale. De l'autre, l'Effet Fondateur : lié à un double l'isolat initial et secondaire,  qui a fixé des </a:t>
            </a:r>
            <a:r>
              <a:rPr lang="fr-FR" sz="1200" b="0" i="0" kern="1200" dirty="0" err="1">
                <a:solidFill>
                  <a:schemeClr val="tx1"/>
                </a:solidFill>
                <a:effectLst/>
                <a:latin typeface="+mn-lt"/>
                <a:ea typeface="+mn-ea"/>
                <a:cs typeface="+mn-cs"/>
              </a:rPr>
              <a:t>variants</a:t>
            </a:r>
            <a:r>
              <a:rPr lang="fr-FR" sz="1200" b="0" i="0" kern="1200" dirty="0">
                <a:solidFill>
                  <a:schemeClr val="tx1"/>
                </a:solidFill>
                <a:effectLst/>
                <a:latin typeface="+mn-lt"/>
                <a:ea typeface="+mn-ea"/>
                <a:cs typeface="+mn-cs"/>
              </a:rPr>
              <a:t> rares, créant des pathologies spécifiques à l'île comme le syndrome Larsen-Bourbon ou le syndrome de Ravine. Ces mutations étaient invisibles dans les bases internationales, mais elles sont une réalité quotidienne pour nos cliniciens.</a:t>
            </a:r>
            <a:br>
              <a:rPr lang="fr-FR" sz="1200" b="0" i="0" kern="1200" dirty="0">
                <a:solidFill>
                  <a:schemeClr val="tx1"/>
                </a:solidFill>
                <a:effectLst/>
                <a:latin typeface="+mn-lt"/>
                <a:ea typeface="+mn-ea"/>
                <a:cs typeface="+mn-cs"/>
              </a:rPr>
            </a:br>
            <a:r>
              <a:rPr lang="fr-FR" sz="1200" b="0" i="0" kern="1200" dirty="0">
                <a:solidFill>
                  <a:schemeClr val="tx1"/>
                </a:solidFill>
                <a:effectLst/>
                <a:latin typeface="+mn-lt"/>
                <a:ea typeface="+mn-ea"/>
                <a:cs typeface="+mn-cs"/>
              </a:rPr>
              <a:t/>
            </a:r>
            <a:br>
              <a:rPr lang="fr-FR" sz="1200" b="0" i="0" kern="1200" dirty="0">
                <a:solidFill>
                  <a:schemeClr val="tx1"/>
                </a:solidFill>
                <a:effectLst/>
                <a:latin typeface="+mn-lt"/>
                <a:ea typeface="+mn-ea"/>
                <a:cs typeface="+mn-cs"/>
              </a:rPr>
            </a:br>
            <a:r>
              <a:rPr lang="fr-FR" sz="1200" b="1" i="0" kern="1200" dirty="0">
                <a:solidFill>
                  <a:schemeClr val="tx1"/>
                </a:solidFill>
                <a:effectLst/>
                <a:latin typeface="+mn-lt"/>
                <a:ea typeface="+mn-ea"/>
                <a:cs typeface="+mn-cs"/>
              </a:rPr>
              <a:t>(transition) </a:t>
            </a:r>
            <a:r>
              <a:rPr lang="fr-FR" sz="1200" b="0" i="0" kern="1200" dirty="0">
                <a:solidFill>
                  <a:schemeClr val="tx1"/>
                </a:solidFill>
                <a:effectLst/>
                <a:latin typeface="+mn-lt"/>
                <a:ea typeface="+mn-ea"/>
                <a:cs typeface="+mn-cs"/>
              </a:rPr>
              <a:t>Quelles sont les conséquences</a:t>
            </a:r>
            <a:r>
              <a:rPr lang="fr-FR" sz="1200" b="0" i="0" kern="1200" baseline="0" dirty="0">
                <a:solidFill>
                  <a:schemeClr val="tx1"/>
                </a:solidFill>
                <a:effectLst/>
                <a:latin typeface="+mn-lt"/>
                <a:ea typeface="+mn-ea"/>
                <a:cs typeface="+mn-cs"/>
              </a:rPr>
              <a:t> de cette absence de référence locale.</a:t>
            </a:r>
            <a:endParaRPr lang="fr-FR" b="0" dirty="0"/>
          </a:p>
        </p:txBody>
      </p:sp>
      <p:sp>
        <p:nvSpPr>
          <p:cNvPr id="4" name="Espace réservé du numéro de diapositive 3"/>
          <p:cNvSpPr>
            <a:spLocks noGrp="1"/>
          </p:cNvSpPr>
          <p:nvPr>
            <p:ph type="sldNum" sz="quarter" idx="5"/>
          </p:nvPr>
        </p:nvSpPr>
        <p:spPr/>
        <p:txBody>
          <a:bodyPr/>
          <a:lstStyle/>
          <a:p>
            <a:fld id="{42F46777-C27D-46EC-B16A-9D0B5FF2F26D}" type="slidenum">
              <a:rPr lang="fr-FR" smtClean="0"/>
              <a:t>5</a:t>
            </a:fld>
            <a:endParaRPr lang="fr-FR"/>
          </a:p>
        </p:txBody>
      </p:sp>
    </p:spTree>
    <p:extLst>
      <p:ext uri="{BB962C8B-B14F-4D97-AF65-F5344CB8AC3E}">
        <p14:creationId xmlns:p14="http://schemas.microsoft.com/office/powerpoint/2010/main" val="23086990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i="0" kern="1200" dirty="0">
                <a:solidFill>
                  <a:schemeClr val="tx1"/>
                </a:solidFill>
                <a:effectLst/>
                <a:latin typeface="+mn-lt"/>
                <a:ea typeface="+mn-ea"/>
                <a:cs typeface="+mn-cs"/>
              </a:rPr>
              <a:t>(transition) </a:t>
            </a:r>
            <a:r>
              <a:rPr lang="fr-FR" sz="1200" b="0" i="0" kern="1200" dirty="0">
                <a:solidFill>
                  <a:schemeClr val="tx1"/>
                </a:solidFill>
                <a:effectLst/>
                <a:latin typeface="+mn-lt"/>
                <a:ea typeface="+mn-ea"/>
                <a:cs typeface="+mn-cs"/>
              </a:rPr>
              <a:t>Quelle sont les conséquences</a:t>
            </a:r>
            <a:r>
              <a:rPr lang="fr-FR" sz="1200" b="0" i="0" kern="1200" baseline="0" dirty="0">
                <a:solidFill>
                  <a:schemeClr val="tx1"/>
                </a:solidFill>
                <a:effectLst/>
                <a:latin typeface="+mn-lt"/>
                <a:ea typeface="+mn-ea"/>
                <a:cs typeface="+mn-cs"/>
              </a:rPr>
              <a:t> de cette absence de référence local.</a:t>
            </a:r>
            <a:br>
              <a:rPr lang="fr-FR" sz="1200" b="0" i="0" kern="1200" baseline="0" dirty="0">
                <a:solidFill>
                  <a:schemeClr val="tx1"/>
                </a:solidFill>
                <a:effectLst/>
                <a:latin typeface="+mn-lt"/>
                <a:ea typeface="+mn-ea"/>
                <a:cs typeface="+mn-cs"/>
              </a:rPr>
            </a:br>
            <a:r>
              <a:rPr lang="fr-FR" sz="1200" b="0" i="0" kern="1200" baseline="0" dirty="0">
                <a:solidFill>
                  <a:schemeClr val="tx1"/>
                </a:solidFill>
                <a:effectLst/>
                <a:latin typeface="+mn-lt"/>
                <a:ea typeface="+mn-ea"/>
                <a:cs typeface="+mn-cs"/>
              </a:rPr>
              <a:t/>
            </a:r>
            <a:br>
              <a:rPr lang="fr-FR" sz="1200" b="0" i="0" kern="1200" baseline="0" dirty="0">
                <a:solidFill>
                  <a:schemeClr val="tx1"/>
                </a:solidFill>
                <a:effectLst/>
                <a:latin typeface="+mn-lt"/>
                <a:ea typeface="+mn-ea"/>
                <a:cs typeface="+mn-cs"/>
              </a:rPr>
            </a:br>
            <a:r>
              <a:rPr lang="fr-FR" sz="1200" b="0" i="0" kern="1200" baseline="0" dirty="0">
                <a:solidFill>
                  <a:schemeClr val="tx1"/>
                </a:solidFill>
                <a:effectLst/>
                <a:latin typeface="+mn-lt"/>
                <a:ea typeface="+mn-ea"/>
                <a:cs typeface="+mn-cs"/>
              </a:rPr>
              <a:t>Cela </a:t>
            </a:r>
            <a:r>
              <a:rPr lang="fr-FR" sz="1200" b="0" i="0" kern="1200" dirty="0">
                <a:solidFill>
                  <a:schemeClr val="tx1"/>
                </a:solidFill>
                <a:effectLst/>
                <a:latin typeface="+mn-lt"/>
                <a:ea typeface="+mn-ea"/>
                <a:cs typeface="+mn-cs"/>
              </a:rPr>
              <a:t>crée des impasses diagnostiques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kern="1200" dirty="0">
                <a:solidFill>
                  <a:schemeClr val="tx1"/>
                </a:solidFill>
                <a:effectLst/>
                <a:latin typeface="+mn-lt"/>
                <a:ea typeface="+mn-ea"/>
                <a:cs typeface="+mn-cs"/>
              </a:rPr>
              <a:t>  - beaucoup plus de VUS (</a:t>
            </a:r>
            <a:r>
              <a:rPr lang="fr-FR" sz="1200" b="0" i="0" kern="1200" dirty="0" err="1">
                <a:solidFill>
                  <a:schemeClr val="tx1"/>
                </a:solidFill>
                <a:effectLst/>
                <a:latin typeface="+mn-lt"/>
                <a:ea typeface="+mn-ea"/>
                <a:cs typeface="+mn-cs"/>
              </a:rPr>
              <a:t>Variants</a:t>
            </a:r>
            <a:r>
              <a:rPr lang="fr-FR" sz="1200" b="0" i="0" kern="1200" dirty="0">
                <a:solidFill>
                  <a:schemeClr val="tx1"/>
                </a:solidFill>
                <a:effectLst/>
                <a:latin typeface="+mn-lt"/>
                <a:ea typeface="+mn-ea"/>
                <a:cs typeface="+mn-cs"/>
              </a:rPr>
              <a:t> de Signification Incertaine). Faute de comparaison locale, des variants tout à fait bénins à La Réunion peuvent être classés comme "incertains", bloquant le parcours de soin.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kern="1200" baseline="0" dirty="0">
                <a:solidFill>
                  <a:schemeClr val="tx1"/>
                </a:solidFill>
                <a:effectLst/>
                <a:latin typeface="+mn-lt"/>
                <a:ea typeface="+mn-ea"/>
                <a:cs typeface="+mn-cs"/>
              </a:rPr>
              <a:t>  - un risque élevé de </a:t>
            </a:r>
            <a:r>
              <a:rPr lang="fr-FR" sz="1200" b="0" i="0" kern="1200" dirty="0">
                <a:solidFill>
                  <a:schemeClr val="tx1"/>
                </a:solidFill>
                <a:effectLst/>
                <a:latin typeface="+mn-lt"/>
                <a:ea typeface="+mn-ea"/>
                <a:cs typeface="+mn-cs"/>
              </a:rPr>
              <a:t>faux positifs. Une</a:t>
            </a:r>
            <a:r>
              <a:rPr lang="fr-FR" sz="1200" b="0" i="0" kern="1200" baseline="0" dirty="0">
                <a:solidFill>
                  <a:schemeClr val="tx1"/>
                </a:solidFill>
                <a:effectLst/>
                <a:latin typeface="+mn-lt"/>
                <a:ea typeface="+mn-ea"/>
                <a:cs typeface="+mn-cs"/>
              </a:rPr>
              <a:t> </a:t>
            </a:r>
            <a:r>
              <a:rPr lang="fr-FR" sz="1200" b="0" i="0" kern="1200" dirty="0">
                <a:solidFill>
                  <a:schemeClr val="tx1"/>
                </a:solidFill>
                <a:effectLst/>
                <a:latin typeface="+mn-lt"/>
                <a:ea typeface="+mn-ea"/>
                <a:cs typeface="+mn-cs"/>
              </a:rPr>
              <a:t>étude de </a:t>
            </a:r>
            <a:r>
              <a:rPr lang="fr-FR" sz="1200" b="0" i="0" kern="1200" dirty="0" err="1">
                <a:solidFill>
                  <a:schemeClr val="tx1"/>
                </a:solidFill>
                <a:effectLst/>
                <a:latin typeface="+mn-lt"/>
                <a:ea typeface="+mn-ea"/>
                <a:cs typeface="+mn-cs"/>
              </a:rPr>
              <a:t>Manrai</a:t>
            </a:r>
            <a:r>
              <a:rPr lang="fr-FR" sz="1200" b="0" i="0" kern="1200" dirty="0">
                <a:solidFill>
                  <a:schemeClr val="tx1"/>
                </a:solidFill>
                <a:effectLst/>
                <a:latin typeface="+mn-lt"/>
                <a:ea typeface="+mn-ea"/>
                <a:cs typeface="+mn-cs"/>
              </a:rPr>
              <a:t> et al. a montré que des patients afro-descendants ont été diagnostiqués à tort de cardiomyopathie hypertrophique car les </a:t>
            </a:r>
            <a:r>
              <a:rPr lang="fr-FR" sz="1200" b="0" i="0" kern="1200" dirty="0" err="1">
                <a:solidFill>
                  <a:schemeClr val="tx1"/>
                </a:solidFill>
                <a:effectLst/>
                <a:latin typeface="+mn-lt"/>
                <a:ea typeface="+mn-ea"/>
                <a:cs typeface="+mn-cs"/>
              </a:rPr>
              <a:t>variants</a:t>
            </a:r>
            <a:r>
              <a:rPr lang="fr-FR" sz="1200" b="0" i="0" kern="1200" dirty="0">
                <a:solidFill>
                  <a:schemeClr val="tx1"/>
                </a:solidFill>
                <a:effectLst/>
                <a:latin typeface="+mn-lt"/>
                <a:ea typeface="+mn-ea"/>
                <a:cs typeface="+mn-cs"/>
              </a:rPr>
              <a:t> commun dans une population d’origine d’Afrique de l’Ouest, étaient à fréquence rare dans</a:t>
            </a:r>
            <a:r>
              <a:rPr lang="fr-FR" sz="1200" b="0" i="0" kern="1200" baseline="0" dirty="0">
                <a:solidFill>
                  <a:schemeClr val="tx1"/>
                </a:solidFill>
                <a:effectLst/>
                <a:latin typeface="+mn-lt"/>
                <a:ea typeface="+mn-ea"/>
                <a:cs typeface="+mn-cs"/>
              </a:rPr>
              <a:t> </a:t>
            </a:r>
            <a:r>
              <a:rPr lang="fr-FR" sz="1200" b="0" i="0" kern="1200" dirty="0">
                <a:solidFill>
                  <a:schemeClr val="tx1"/>
                </a:solidFill>
                <a:effectLst/>
                <a:latin typeface="+mn-lt"/>
                <a:ea typeface="+mn-ea"/>
                <a:cs typeface="+mn-cs"/>
              </a:rPr>
              <a:t>les bases euro-centrées.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kern="1200" dirty="0">
                <a:solidFill>
                  <a:schemeClr val="tx1"/>
                </a:solidFill>
                <a:effectLst/>
                <a:latin typeface="+mn-lt"/>
                <a:ea typeface="+mn-ea"/>
                <a:cs typeface="+mn-cs"/>
              </a:rPr>
              <a:t>  - C'est une source d'anxiété familiale et de coûts inutiles pour notre système de santé. »</a:t>
            </a:r>
            <a:endParaRPr lang="fr-FR" b="0" dirty="0"/>
          </a:p>
          <a:p>
            <a:endParaRPr lang="fr-FR" dirty="0"/>
          </a:p>
          <a:p>
            <a:r>
              <a:rPr lang="fr-FR" b="1" dirty="0"/>
              <a:t>(transition) </a:t>
            </a:r>
            <a:r>
              <a:rPr lang="fr-FR" dirty="0"/>
              <a:t>Au de la de l’absence ou de l’erreur d’interprétation des problèmes de pharmacogénétique ont été démontrait</a:t>
            </a:r>
            <a:r>
              <a:rPr lang="fr-FR" baseline="0" dirty="0"/>
              <a:t>.</a:t>
            </a:r>
          </a:p>
        </p:txBody>
      </p:sp>
      <p:sp>
        <p:nvSpPr>
          <p:cNvPr id="4" name="Espace réservé du numéro de diapositive 3"/>
          <p:cNvSpPr>
            <a:spLocks noGrp="1"/>
          </p:cNvSpPr>
          <p:nvPr>
            <p:ph type="sldNum" sz="quarter" idx="5"/>
          </p:nvPr>
        </p:nvSpPr>
        <p:spPr/>
        <p:txBody>
          <a:bodyPr/>
          <a:lstStyle/>
          <a:p>
            <a:fld id="{42F46777-C27D-46EC-B16A-9D0B5FF2F26D}" type="slidenum">
              <a:rPr lang="fr-FR" smtClean="0"/>
              <a:t>6</a:t>
            </a:fld>
            <a:endParaRPr lang="fr-FR"/>
          </a:p>
        </p:txBody>
      </p:sp>
    </p:spTree>
    <p:extLst>
      <p:ext uri="{BB962C8B-B14F-4D97-AF65-F5344CB8AC3E}">
        <p14:creationId xmlns:p14="http://schemas.microsoft.com/office/powerpoint/2010/main" val="3184288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a:p>
            <a:r>
              <a:rPr lang="fr-FR" b="1" dirty="0"/>
              <a:t>(transition) </a:t>
            </a:r>
            <a:r>
              <a:rPr lang="fr-FR" dirty="0"/>
              <a:t>Au de la de l’absence ou de l’erreur d’interprétation des problèmes de pharmacogénétique ont été démontrait</a:t>
            </a:r>
            <a:r>
              <a:rPr lang="fr-FR" baseline="0" dirty="0"/>
              <a:t>.</a:t>
            </a:r>
          </a:p>
          <a:p>
            <a:endParaRPr lang="fr-FR" baseline="0" dirty="0"/>
          </a:p>
          <a:p>
            <a:r>
              <a:rPr lang="fr-FR" dirty="0"/>
              <a:t>Cela impacte les soins des patients</a:t>
            </a:r>
            <a:r>
              <a:rPr lang="fr-FR" baseline="0" dirty="0"/>
              <a:t>, </a:t>
            </a:r>
            <a:r>
              <a:rPr lang="fr-FR" sz="1200" b="0" i="0" kern="1200" dirty="0">
                <a:solidFill>
                  <a:schemeClr val="tx1"/>
                </a:solidFill>
                <a:effectLst/>
                <a:latin typeface="+mn-lt"/>
                <a:ea typeface="+mn-ea"/>
                <a:cs typeface="+mn-cs"/>
              </a:rPr>
              <a:t>90 % des individus portent au moins un variant actionnable influençant la réponse aux médicaments. Prenez la </a:t>
            </a:r>
            <a:r>
              <a:rPr lang="fr-FR" sz="1200" b="1" i="0" kern="1200" dirty="0">
                <a:solidFill>
                  <a:schemeClr val="tx1"/>
                </a:solidFill>
                <a:effectLst/>
                <a:latin typeface="+mn-lt"/>
                <a:ea typeface="+mn-ea"/>
                <a:cs typeface="+mn-cs"/>
              </a:rPr>
              <a:t>Warfarine</a:t>
            </a:r>
            <a:r>
              <a:rPr lang="fr-FR" sz="1200" b="0" i="0" kern="1200" dirty="0">
                <a:solidFill>
                  <a:schemeClr val="tx1"/>
                </a:solidFill>
                <a:effectLst/>
                <a:latin typeface="+mn-lt"/>
                <a:ea typeface="+mn-ea"/>
                <a:cs typeface="+mn-cs"/>
              </a:rPr>
              <a:t> : une étude de </a:t>
            </a:r>
            <a:r>
              <a:rPr lang="fr-FR" sz="1200" b="0" i="0" kern="1200" dirty="0" err="1">
                <a:solidFill>
                  <a:schemeClr val="tx1"/>
                </a:solidFill>
                <a:effectLst/>
                <a:latin typeface="+mn-lt"/>
                <a:ea typeface="+mn-ea"/>
                <a:cs typeface="+mn-cs"/>
              </a:rPr>
              <a:t>Perera</a:t>
            </a:r>
            <a:r>
              <a:rPr lang="fr-FR" sz="1200" b="0" i="0" kern="1200" dirty="0">
                <a:solidFill>
                  <a:schemeClr val="tx1"/>
                </a:solidFill>
                <a:effectLst/>
                <a:latin typeface="+mn-lt"/>
                <a:ea typeface="+mn-ea"/>
                <a:cs typeface="+mn-cs"/>
              </a:rPr>
              <a:t> AM dans le Lancet montre que certains variants fréquents en Afrique mais rares en Europe augmentent massivement le risque hémorragique. </a:t>
            </a:r>
          </a:p>
          <a:p>
            <a:endParaRPr lang="fr-FR" sz="1200" b="0" i="0" kern="1200" dirty="0">
              <a:solidFill>
                <a:schemeClr val="tx1"/>
              </a:solidFill>
              <a:effectLst/>
              <a:latin typeface="+mn-lt"/>
              <a:ea typeface="+mn-ea"/>
              <a:cs typeface="+mn-cs"/>
            </a:endParaRPr>
          </a:p>
          <a:p>
            <a:r>
              <a:rPr lang="fr-FR" sz="1200" b="0" i="1" kern="1200" dirty="0">
                <a:solidFill>
                  <a:schemeClr val="tx1"/>
                </a:solidFill>
                <a:effectLst/>
                <a:latin typeface="+mn-lt"/>
                <a:ea typeface="+mn-ea"/>
                <a:cs typeface="+mn-cs"/>
              </a:rPr>
              <a:t>Ou le </a:t>
            </a:r>
            <a:r>
              <a:rPr lang="fr-FR" sz="1200" b="1" i="1" kern="1200" dirty="0">
                <a:solidFill>
                  <a:schemeClr val="tx1"/>
                </a:solidFill>
                <a:effectLst/>
                <a:latin typeface="+mn-lt"/>
                <a:ea typeface="+mn-ea"/>
                <a:cs typeface="+mn-cs"/>
              </a:rPr>
              <a:t>Clopidogrel</a:t>
            </a:r>
            <a:r>
              <a:rPr lang="fr-FR" sz="1200" b="0" i="1" kern="1200" dirty="0">
                <a:solidFill>
                  <a:schemeClr val="tx1"/>
                </a:solidFill>
                <a:effectLst/>
                <a:latin typeface="+mn-lt"/>
                <a:ea typeface="+mn-ea"/>
                <a:cs typeface="+mn-cs"/>
              </a:rPr>
              <a:t> en cardiologie, où la fréquence élevée de "perte de fonction" chez les personnes d'origine asiatique expose à des thromboses de stent si le dosage n'est pas ajusté. Sans profil local, nous appliquons des dosages standards qui sont, par définition, inadaptés au métissage de La</a:t>
            </a:r>
            <a:r>
              <a:rPr lang="fr-FR" sz="1200" b="0" i="1" kern="1200" baseline="0" dirty="0">
                <a:solidFill>
                  <a:schemeClr val="tx1"/>
                </a:solidFill>
                <a:effectLst/>
                <a:latin typeface="+mn-lt"/>
                <a:ea typeface="+mn-ea"/>
                <a:cs typeface="+mn-cs"/>
              </a:rPr>
              <a:t> Réunion</a:t>
            </a:r>
            <a:r>
              <a:rPr lang="fr-FR" sz="1200" b="0" i="1" kern="1200" dirty="0">
                <a:solidFill>
                  <a:schemeClr val="tx1"/>
                </a:solidFill>
                <a:effectLst/>
                <a:latin typeface="+mn-lt"/>
                <a:ea typeface="+mn-ea"/>
                <a:cs typeface="+mn-cs"/>
              </a:rPr>
              <a:t>. Cela veut dire errance posologique,</a:t>
            </a:r>
            <a:r>
              <a:rPr lang="fr-FR" sz="1200" b="0" i="1" kern="1200" baseline="0" dirty="0">
                <a:solidFill>
                  <a:schemeClr val="tx1"/>
                </a:solidFill>
                <a:effectLst/>
                <a:latin typeface="+mn-lt"/>
                <a:ea typeface="+mn-ea"/>
                <a:cs typeface="+mn-cs"/>
              </a:rPr>
              <a:t> différence de mortalité entre La Réunion et la métropole et absence de prise en charge adaptée.</a:t>
            </a:r>
          </a:p>
          <a:p>
            <a:endParaRPr lang="fr-FR" sz="1200" b="0" i="0" kern="1200" baseline="0" dirty="0">
              <a:solidFill>
                <a:schemeClr val="tx1"/>
              </a:solidFill>
              <a:effectLst/>
              <a:latin typeface="+mn-lt"/>
              <a:ea typeface="+mn-ea"/>
              <a:cs typeface="+mn-cs"/>
            </a:endParaRPr>
          </a:p>
          <a:p>
            <a:r>
              <a:rPr lang="fr-FR" sz="1200" b="1" i="0" kern="1200" baseline="0" dirty="0">
                <a:solidFill>
                  <a:schemeClr val="tx1"/>
                </a:solidFill>
                <a:effectLst/>
                <a:latin typeface="+mn-lt"/>
                <a:ea typeface="+mn-ea"/>
                <a:cs typeface="+mn-cs"/>
              </a:rPr>
              <a:t>(transition) </a:t>
            </a:r>
            <a:r>
              <a:rPr lang="fr-FR" sz="1200" b="0" i="0" kern="1200" baseline="0" dirty="0">
                <a:solidFill>
                  <a:schemeClr val="tx1"/>
                </a:solidFill>
                <a:effectLst/>
                <a:latin typeface="+mn-lt"/>
                <a:ea typeface="+mn-ea"/>
                <a:cs typeface="+mn-cs"/>
              </a:rPr>
              <a:t>maintenant que nous avons vu les conséquences, vers quel avenir médical allons nous sans référence locale.</a:t>
            </a:r>
            <a:endParaRPr lang="fr-FR" b="0" dirty="0"/>
          </a:p>
        </p:txBody>
      </p:sp>
      <p:sp>
        <p:nvSpPr>
          <p:cNvPr id="4" name="Espace réservé du numéro de diapositive 3"/>
          <p:cNvSpPr>
            <a:spLocks noGrp="1"/>
          </p:cNvSpPr>
          <p:nvPr>
            <p:ph type="sldNum" sz="quarter" idx="10"/>
          </p:nvPr>
        </p:nvSpPr>
        <p:spPr/>
        <p:txBody>
          <a:bodyPr/>
          <a:lstStyle/>
          <a:p>
            <a:fld id="{42F46777-C27D-46EC-B16A-9D0B5FF2F26D}" type="slidenum">
              <a:rPr lang="fr-FR" smtClean="0"/>
              <a:t>7</a:t>
            </a:fld>
            <a:endParaRPr lang="fr-FR"/>
          </a:p>
        </p:txBody>
      </p:sp>
    </p:spTree>
    <p:extLst>
      <p:ext uri="{BB962C8B-B14F-4D97-AF65-F5344CB8AC3E}">
        <p14:creationId xmlns:p14="http://schemas.microsoft.com/office/powerpoint/2010/main" val="772935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i="0" kern="1200" baseline="0" dirty="0">
                <a:solidFill>
                  <a:schemeClr val="tx1"/>
                </a:solidFill>
                <a:effectLst/>
                <a:latin typeface="+mn-lt"/>
                <a:ea typeface="+mn-ea"/>
                <a:cs typeface="+mn-cs"/>
              </a:rPr>
              <a:t>(transition) </a:t>
            </a:r>
            <a:r>
              <a:rPr lang="fr-FR" sz="1200" b="0" i="0" kern="1200" baseline="0" dirty="0">
                <a:solidFill>
                  <a:schemeClr val="tx1"/>
                </a:solidFill>
                <a:effectLst/>
                <a:latin typeface="+mn-lt"/>
                <a:ea typeface="+mn-ea"/>
                <a:cs typeface="+mn-cs"/>
              </a:rPr>
              <a:t>maintenant que nous avons vu les conséquences, vers quel avenir médicale allons nous sans référence local.</a:t>
            </a:r>
            <a:endParaRPr lang="fr-FR" b="0" dirty="0"/>
          </a:p>
          <a:p>
            <a:endParaRPr lang="fr-FR" dirty="0"/>
          </a:p>
          <a:p>
            <a:r>
              <a:rPr lang="fr-FR" sz="1200" b="0" i="0" kern="1200" dirty="0">
                <a:solidFill>
                  <a:schemeClr val="tx1"/>
                </a:solidFill>
                <a:effectLst/>
                <a:latin typeface="+mn-lt"/>
                <a:ea typeface="+mn-ea"/>
                <a:cs typeface="+mn-cs"/>
              </a:rPr>
              <a:t>L'IA est le futur de la pharmacologie, mais attention.</a:t>
            </a:r>
            <a:r>
              <a:rPr lang="fr-FR" sz="1200" b="0" i="0" kern="1200" baseline="0" dirty="0">
                <a:solidFill>
                  <a:schemeClr val="tx1"/>
                </a:solidFill>
                <a:effectLst/>
                <a:latin typeface="+mn-lt"/>
                <a:ea typeface="+mn-ea"/>
                <a:cs typeface="+mn-cs"/>
              </a:rPr>
              <a:t> </a:t>
            </a:r>
            <a:r>
              <a:rPr lang="fr-FR" sz="1200" b="0" i="0" kern="1200" dirty="0">
                <a:solidFill>
                  <a:schemeClr val="tx1"/>
                </a:solidFill>
                <a:effectLst/>
                <a:latin typeface="+mn-lt"/>
                <a:ea typeface="+mn-ea"/>
                <a:cs typeface="+mn-cs"/>
              </a:rPr>
              <a:t>Si les IA génératives s’entraînent sur des bases de données biaisées euro-centrées, les futurs médicaments seront optimisés pour l'Europe. Le fossé médical va s'élargir : nous devons intégrer la diversité réunionnaise maintenant, avant que les standards de la médecine de demain ne soient définitivement figés sur des modèles incomplets. </a:t>
            </a:r>
            <a:br>
              <a:rPr lang="fr-FR" sz="1200" b="0" i="0" kern="1200" dirty="0">
                <a:solidFill>
                  <a:schemeClr val="tx1"/>
                </a:solidFill>
                <a:effectLst/>
                <a:latin typeface="+mn-lt"/>
                <a:ea typeface="+mn-ea"/>
                <a:cs typeface="+mn-cs"/>
              </a:rPr>
            </a:br>
            <a:r>
              <a:rPr lang="fr-FR" sz="1200" b="0" i="0" kern="1200" dirty="0">
                <a:solidFill>
                  <a:schemeClr val="tx1"/>
                </a:solidFill>
                <a:effectLst/>
                <a:latin typeface="+mn-lt"/>
                <a:ea typeface="+mn-ea"/>
                <a:cs typeface="+mn-cs"/>
              </a:rPr>
              <a:t/>
            </a:r>
            <a:br>
              <a:rPr lang="fr-FR" sz="1200" b="0" i="0" kern="1200" dirty="0">
                <a:solidFill>
                  <a:schemeClr val="tx1"/>
                </a:solidFill>
                <a:effectLst/>
                <a:latin typeface="+mn-lt"/>
                <a:ea typeface="+mn-ea"/>
                <a:cs typeface="+mn-cs"/>
              </a:rPr>
            </a:br>
            <a:r>
              <a:rPr lang="fr-FR" sz="1200" b="1" i="0" kern="1200" dirty="0">
                <a:solidFill>
                  <a:schemeClr val="tx1"/>
                </a:solidFill>
                <a:effectLst/>
                <a:latin typeface="+mn-lt"/>
                <a:ea typeface="+mn-ea"/>
                <a:cs typeface="+mn-cs"/>
              </a:rPr>
              <a:t>(transition) </a:t>
            </a:r>
            <a:r>
              <a:rPr lang="fr-FR" sz="1200" b="0" i="0" kern="1200" dirty="0">
                <a:solidFill>
                  <a:schemeClr val="tx1"/>
                </a:solidFill>
                <a:effectLst/>
                <a:latin typeface="+mn-lt"/>
                <a:ea typeface="+mn-ea"/>
                <a:cs typeface="+mn-cs"/>
              </a:rPr>
              <a:t>Afin de nous prémunir de ce futur peu réjouissant,</a:t>
            </a:r>
            <a:r>
              <a:rPr lang="fr-FR" sz="1200" b="0" i="0" kern="1200" baseline="0" dirty="0">
                <a:solidFill>
                  <a:schemeClr val="tx1"/>
                </a:solidFill>
                <a:effectLst/>
                <a:latin typeface="+mn-lt"/>
                <a:ea typeface="+mn-ea"/>
                <a:cs typeface="+mn-cs"/>
              </a:rPr>
              <a:t> Le Projet Génome Réunion est né.</a:t>
            </a:r>
            <a:endParaRPr lang="fr-FR" b="0" dirty="0"/>
          </a:p>
        </p:txBody>
      </p:sp>
      <p:sp>
        <p:nvSpPr>
          <p:cNvPr id="4" name="Espace réservé du numéro de diapositive 3"/>
          <p:cNvSpPr>
            <a:spLocks noGrp="1"/>
          </p:cNvSpPr>
          <p:nvPr>
            <p:ph type="sldNum" sz="quarter" idx="5"/>
          </p:nvPr>
        </p:nvSpPr>
        <p:spPr/>
        <p:txBody>
          <a:bodyPr/>
          <a:lstStyle/>
          <a:p>
            <a:fld id="{42F46777-C27D-46EC-B16A-9D0B5FF2F26D}" type="slidenum">
              <a:rPr lang="fr-FR" smtClean="0"/>
              <a:t>8</a:t>
            </a:fld>
            <a:endParaRPr lang="fr-FR"/>
          </a:p>
        </p:txBody>
      </p:sp>
    </p:spTree>
    <p:extLst>
      <p:ext uri="{BB962C8B-B14F-4D97-AF65-F5344CB8AC3E}">
        <p14:creationId xmlns:p14="http://schemas.microsoft.com/office/powerpoint/2010/main" val="15770325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1" i="0" kern="1200" dirty="0">
                <a:solidFill>
                  <a:schemeClr val="tx1"/>
                </a:solidFill>
                <a:effectLst/>
                <a:latin typeface="+mn-lt"/>
                <a:ea typeface="+mn-ea"/>
                <a:cs typeface="+mn-cs"/>
              </a:rPr>
              <a:t>(transition) </a:t>
            </a:r>
            <a:r>
              <a:rPr lang="fr-FR" sz="1200" b="0" i="0" kern="1200" dirty="0">
                <a:solidFill>
                  <a:schemeClr val="tx1"/>
                </a:solidFill>
                <a:effectLst/>
                <a:latin typeface="+mn-lt"/>
                <a:ea typeface="+mn-ea"/>
                <a:cs typeface="+mn-cs"/>
              </a:rPr>
              <a:t>Afin de nous prévenir de ce futur peu réjouissant,</a:t>
            </a:r>
            <a:r>
              <a:rPr lang="fr-FR" sz="1200" b="0" i="0" kern="1200" baseline="0" dirty="0">
                <a:solidFill>
                  <a:schemeClr val="tx1"/>
                </a:solidFill>
                <a:effectLst/>
                <a:latin typeface="+mn-lt"/>
                <a:ea typeface="+mn-ea"/>
                <a:cs typeface="+mn-cs"/>
              </a:rPr>
              <a:t> Le Projet Génome Réunion est né.</a:t>
            </a:r>
            <a:br>
              <a:rPr lang="fr-FR" sz="1200" b="0" i="0" kern="1200" baseline="0" dirty="0">
                <a:solidFill>
                  <a:schemeClr val="tx1"/>
                </a:solidFill>
                <a:effectLst/>
                <a:latin typeface="+mn-lt"/>
                <a:ea typeface="+mn-ea"/>
                <a:cs typeface="+mn-cs"/>
              </a:rPr>
            </a:br>
            <a:r>
              <a:rPr lang="fr-FR" sz="1200" b="0" i="0" kern="1200" baseline="0" dirty="0">
                <a:solidFill>
                  <a:schemeClr val="tx1"/>
                </a:solidFill>
                <a:effectLst/>
                <a:latin typeface="+mn-lt"/>
                <a:ea typeface="+mn-ea"/>
                <a:cs typeface="+mn-cs"/>
              </a:rPr>
              <a:t/>
            </a:r>
            <a:br>
              <a:rPr lang="fr-FR" sz="1200" b="0" i="0" kern="1200" baseline="0" dirty="0">
                <a:solidFill>
                  <a:schemeClr val="tx1"/>
                </a:solidFill>
                <a:effectLst/>
                <a:latin typeface="+mn-lt"/>
                <a:ea typeface="+mn-ea"/>
                <a:cs typeface="+mn-cs"/>
              </a:rPr>
            </a:br>
            <a:r>
              <a:rPr lang="fr-FR" sz="1200" b="0" i="0" kern="1200" baseline="0" dirty="0">
                <a:solidFill>
                  <a:schemeClr val="tx1"/>
                </a:solidFill>
                <a:effectLst/>
                <a:latin typeface="+mn-lt"/>
                <a:ea typeface="+mn-ea"/>
                <a:cs typeface="+mn-cs"/>
              </a:rPr>
              <a:t>Avec une méthodologie d’échantillonnage rigoureuse, afin de ne pas refaire les mêmes erreurs que nos prédécesseurs*, réaliser sur toute l’île </a:t>
            </a:r>
            <a:r>
              <a:rPr lang="fr-FR" sz="1200" b="0" i="0" kern="1200" dirty="0">
                <a:solidFill>
                  <a:schemeClr val="tx1"/>
                </a:solidFill>
                <a:effectLst/>
                <a:latin typeface="+mn-lt"/>
                <a:ea typeface="+mn-ea"/>
                <a:cs typeface="+mn-cs"/>
              </a:rPr>
              <a:t>via l'</a:t>
            </a:r>
            <a:r>
              <a:rPr lang="fr-FR" sz="1200" b="1" i="0" kern="1200" dirty="0">
                <a:solidFill>
                  <a:schemeClr val="tx1"/>
                </a:solidFill>
                <a:effectLst/>
                <a:latin typeface="+mn-lt"/>
                <a:ea typeface="+mn-ea"/>
                <a:cs typeface="+mn-cs"/>
              </a:rPr>
              <a:t>EFS</a:t>
            </a:r>
            <a:r>
              <a:rPr lang="fr-FR" sz="1200" b="0" i="0" kern="1200" dirty="0">
                <a:solidFill>
                  <a:schemeClr val="tx1"/>
                </a:solidFill>
                <a:effectLst/>
                <a:latin typeface="+mn-lt"/>
                <a:ea typeface="+mn-ea"/>
                <a:cs typeface="+mn-cs"/>
              </a:rPr>
              <a:t> reflétant la diversité, suivi d'un génotypage sur la technologie </a:t>
            </a:r>
            <a:r>
              <a:rPr lang="fr-FR" sz="1200" b="1" i="0" kern="1200" dirty="0" err="1">
                <a:solidFill>
                  <a:schemeClr val="tx1"/>
                </a:solidFill>
                <a:effectLst/>
                <a:latin typeface="+mn-lt"/>
                <a:ea typeface="+mn-ea"/>
                <a:cs typeface="+mn-cs"/>
              </a:rPr>
              <a:t>iScan</a:t>
            </a:r>
            <a:r>
              <a:rPr lang="fr-FR" sz="1200" b="1" i="0" kern="1200" dirty="0">
                <a:solidFill>
                  <a:schemeClr val="tx1"/>
                </a:solidFill>
                <a:effectLst/>
                <a:latin typeface="+mn-lt"/>
                <a:ea typeface="+mn-ea"/>
                <a:cs typeface="+mn-cs"/>
              </a:rPr>
              <a:t> d'Illumina</a:t>
            </a:r>
            <a:r>
              <a:rPr lang="fr-FR" sz="1200" b="0" i="0" kern="1200" dirty="0">
                <a:solidFill>
                  <a:schemeClr val="tx1"/>
                </a:solidFill>
                <a:effectLst/>
                <a:latin typeface="+mn-lt"/>
                <a:ea typeface="+mn-ea"/>
                <a:cs typeface="+mn-cs"/>
              </a:rPr>
              <a:t> pour en analyser les origines et la</a:t>
            </a:r>
            <a:r>
              <a:rPr lang="fr-FR" sz="1200" b="0" i="0" kern="1200" baseline="0" dirty="0">
                <a:solidFill>
                  <a:schemeClr val="tx1"/>
                </a:solidFill>
                <a:effectLst/>
                <a:latin typeface="+mn-lt"/>
                <a:ea typeface="+mn-ea"/>
                <a:cs typeface="+mn-cs"/>
              </a:rPr>
              <a:t> </a:t>
            </a:r>
            <a:r>
              <a:rPr lang="fr-FR" sz="1200" b="0" i="0" kern="1200" dirty="0">
                <a:solidFill>
                  <a:schemeClr val="tx1"/>
                </a:solidFill>
                <a:effectLst/>
                <a:latin typeface="+mn-lt"/>
                <a:ea typeface="+mn-ea"/>
                <a:cs typeface="+mn-cs"/>
              </a:rPr>
              <a:t>structure (PCA, </a:t>
            </a:r>
            <a:r>
              <a:rPr lang="fr-FR" sz="1200" b="0" i="0" kern="1200" dirty="0" err="1">
                <a:solidFill>
                  <a:schemeClr val="tx1"/>
                </a:solidFill>
                <a:effectLst/>
                <a:latin typeface="+mn-lt"/>
                <a:ea typeface="+mn-ea"/>
                <a:cs typeface="+mn-cs"/>
              </a:rPr>
              <a:t>admixture</a:t>
            </a:r>
            <a:r>
              <a:rPr lang="fr-FR" sz="1200" b="0" i="0" kern="1200" dirty="0">
                <a:solidFill>
                  <a:schemeClr val="tx1"/>
                </a:solidFill>
                <a:effectLst/>
                <a:latin typeface="+mn-lt"/>
                <a:ea typeface="+mn-ea"/>
                <a:cs typeface="+mn-cs"/>
              </a:rPr>
              <a:t>). Enfin, un séquençage complet (WGS) sur un pool représentatif avec le consortium </a:t>
            </a:r>
            <a:r>
              <a:rPr lang="fr-FR" sz="1200" b="1" i="0" kern="1200" dirty="0" err="1">
                <a:solidFill>
                  <a:schemeClr val="tx1"/>
                </a:solidFill>
                <a:effectLst/>
                <a:latin typeface="+mn-lt"/>
                <a:ea typeface="+mn-ea"/>
                <a:cs typeface="+mn-cs"/>
              </a:rPr>
              <a:t>POPgen</a:t>
            </a:r>
            <a:r>
              <a:rPr lang="fr-FR" sz="1200" b="0" i="0" kern="1200" dirty="0">
                <a:solidFill>
                  <a:schemeClr val="tx1"/>
                </a:solidFill>
                <a:effectLst/>
                <a:latin typeface="+mn-lt"/>
                <a:ea typeface="+mn-ea"/>
                <a:cs typeface="+mn-cs"/>
              </a:rPr>
              <a:t> permettra de créer ce référentiel de </a:t>
            </a:r>
            <a:r>
              <a:rPr lang="fr-FR" sz="1200" b="0" i="0" kern="1200" dirty="0" err="1">
                <a:solidFill>
                  <a:schemeClr val="tx1"/>
                </a:solidFill>
                <a:effectLst/>
                <a:latin typeface="+mn-lt"/>
                <a:ea typeface="+mn-ea"/>
                <a:cs typeface="+mn-cs"/>
              </a:rPr>
              <a:t>variants</a:t>
            </a:r>
            <a:r>
              <a:rPr lang="fr-FR" sz="1200" b="0" i="0" kern="1200" dirty="0">
                <a:solidFill>
                  <a:schemeClr val="tx1"/>
                </a:solidFill>
                <a:effectLst/>
                <a:latin typeface="+mn-lt"/>
                <a:ea typeface="+mn-ea"/>
                <a:cs typeface="+mn-cs"/>
              </a:rPr>
              <a:t> réunionnais. C'est un partenariat d'excellence entre le CHU, l'EFS, l'Université et le secteur privé. »</a:t>
            </a:r>
          </a:p>
          <a:p>
            <a:endParaRPr lang="fr-FR" sz="1200" b="0" i="0" kern="1200" dirty="0">
              <a:solidFill>
                <a:schemeClr val="tx1"/>
              </a:solidFill>
              <a:effectLst/>
              <a:latin typeface="+mn-lt"/>
              <a:ea typeface="+mn-ea"/>
              <a:cs typeface="+mn-cs"/>
            </a:endParaRPr>
          </a:p>
          <a:p>
            <a:r>
              <a:rPr lang="fr-FR" sz="1200" b="1" i="0" kern="1200" dirty="0">
                <a:solidFill>
                  <a:schemeClr val="tx1"/>
                </a:solidFill>
                <a:effectLst/>
                <a:latin typeface="+mn-lt"/>
                <a:ea typeface="+mn-ea"/>
                <a:cs typeface="+mn-cs"/>
              </a:rPr>
              <a:t>(transition) </a:t>
            </a:r>
            <a:r>
              <a:rPr lang="fr-FR" sz="1200" b="0" i="0" kern="1200" dirty="0">
                <a:solidFill>
                  <a:schemeClr val="tx1"/>
                </a:solidFill>
                <a:effectLst/>
                <a:latin typeface="+mn-lt"/>
                <a:ea typeface="+mn-ea"/>
                <a:cs typeface="+mn-cs"/>
              </a:rPr>
              <a:t>avec pour objectif.</a:t>
            </a:r>
          </a:p>
          <a:p>
            <a:endParaRPr lang="fr-FR" sz="1200" b="0" i="0" kern="1200" dirty="0">
              <a:solidFill>
                <a:schemeClr val="tx1"/>
              </a:solidFill>
              <a:effectLst/>
              <a:latin typeface="+mn-lt"/>
              <a:ea typeface="+mn-ea"/>
              <a:cs typeface="+mn-cs"/>
            </a:endParaRPr>
          </a:p>
          <a:p>
            <a:endParaRPr lang="fr-FR" sz="1200" b="0" i="0" kern="1200" dirty="0">
              <a:solidFill>
                <a:schemeClr val="tx1"/>
              </a:solidFill>
              <a:effectLst/>
              <a:latin typeface="+mn-lt"/>
              <a:ea typeface="+mn-ea"/>
              <a:cs typeface="+mn-cs"/>
            </a:endParaRPr>
          </a:p>
          <a:p>
            <a:endParaRPr lang="fr-FR" sz="1200" b="0" i="0" kern="1200" dirty="0">
              <a:solidFill>
                <a:schemeClr val="tx1"/>
              </a:solidFill>
              <a:effectLst/>
              <a:latin typeface="+mn-lt"/>
              <a:ea typeface="+mn-ea"/>
              <a:cs typeface="+mn-cs"/>
            </a:endParaRPr>
          </a:p>
          <a:p>
            <a:r>
              <a:rPr lang="fr-FR" sz="1200" b="0" i="0" kern="1200" dirty="0">
                <a:solidFill>
                  <a:schemeClr val="tx1"/>
                </a:solidFill>
                <a:effectLst/>
                <a:latin typeface="+mn-lt"/>
                <a:ea typeface="+mn-ea"/>
                <a:cs typeface="+mn-cs"/>
              </a:rPr>
              <a:t>*</a:t>
            </a:r>
            <a:r>
              <a:rPr lang="fr-FR" sz="1200" b="0" i="0" kern="1200" baseline="0" dirty="0">
                <a:solidFill>
                  <a:schemeClr val="tx1"/>
                </a:solidFill>
                <a:effectLst/>
                <a:latin typeface="+mn-lt"/>
                <a:ea typeface="+mn-ea"/>
                <a:cs typeface="+mn-cs"/>
              </a:rPr>
              <a:t>(exemple : notre </a:t>
            </a:r>
            <a:r>
              <a:rPr lang="fr-FR" sz="1200" b="0" i="0" kern="1200" baseline="0">
                <a:solidFill>
                  <a:schemeClr val="tx1"/>
                </a:solidFill>
                <a:effectLst/>
                <a:latin typeface="+mn-lt"/>
                <a:ea typeface="+mn-ea"/>
                <a:cs typeface="+mn-cs"/>
              </a:rPr>
              <a:t>propre expérience </a:t>
            </a:r>
            <a:r>
              <a:rPr lang="fr-FR" sz="1200" b="0" i="0" kern="1200" baseline="0" dirty="0">
                <a:solidFill>
                  <a:schemeClr val="tx1"/>
                </a:solidFill>
                <a:effectLst/>
                <a:latin typeface="+mn-lt"/>
                <a:ea typeface="+mn-ea"/>
                <a:cs typeface="+mn-cs"/>
              </a:rPr>
              <a:t>?)</a:t>
            </a:r>
            <a:endParaRPr lang="fr-FR" b="0" dirty="0"/>
          </a:p>
        </p:txBody>
      </p:sp>
      <p:sp>
        <p:nvSpPr>
          <p:cNvPr id="4" name="Espace réservé du numéro de diapositive 3"/>
          <p:cNvSpPr>
            <a:spLocks noGrp="1"/>
          </p:cNvSpPr>
          <p:nvPr>
            <p:ph type="sldNum" sz="quarter" idx="5"/>
          </p:nvPr>
        </p:nvSpPr>
        <p:spPr/>
        <p:txBody>
          <a:bodyPr/>
          <a:lstStyle/>
          <a:p>
            <a:fld id="{42F46777-C27D-46EC-B16A-9D0B5FF2F26D}" type="slidenum">
              <a:rPr lang="fr-FR" smtClean="0"/>
              <a:t>9</a:t>
            </a:fld>
            <a:endParaRPr lang="fr-FR"/>
          </a:p>
        </p:txBody>
      </p:sp>
    </p:spTree>
    <p:extLst>
      <p:ext uri="{BB962C8B-B14F-4D97-AF65-F5344CB8AC3E}">
        <p14:creationId xmlns:p14="http://schemas.microsoft.com/office/powerpoint/2010/main" val="33557578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i="0" kern="1200" dirty="0">
                <a:solidFill>
                  <a:schemeClr val="tx1"/>
                </a:solidFill>
                <a:effectLst/>
                <a:latin typeface="+mn-lt"/>
                <a:ea typeface="+mn-ea"/>
                <a:cs typeface="+mn-cs"/>
              </a:rPr>
              <a:t>(transition) </a:t>
            </a:r>
            <a:r>
              <a:rPr lang="fr-FR" sz="1200" b="0" i="0" kern="1200" dirty="0">
                <a:solidFill>
                  <a:schemeClr val="tx1"/>
                </a:solidFill>
                <a:effectLst/>
                <a:latin typeface="+mn-lt"/>
                <a:ea typeface="+mn-ea"/>
                <a:cs typeface="+mn-cs"/>
              </a:rPr>
              <a:t>avec pour objectif.</a:t>
            </a:r>
            <a:endParaRPr lang="fr-FR" b="0" dirty="0"/>
          </a:p>
          <a:p>
            <a:endParaRPr lang="fr-FR" dirty="0"/>
          </a:p>
          <a:p>
            <a:r>
              <a:rPr lang="fr-FR" sz="1200" b="1" i="0" kern="1200" dirty="0">
                <a:solidFill>
                  <a:schemeClr val="tx1"/>
                </a:solidFill>
                <a:effectLst/>
                <a:latin typeface="+mn-lt"/>
                <a:ea typeface="+mn-ea"/>
                <a:cs typeface="+mn-cs"/>
              </a:rPr>
              <a:t>Clinique :</a:t>
            </a:r>
            <a:r>
              <a:rPr lang="fr-FR" sz="1200" b="0" i="0" kern="1200" dirty="0">
                <a:solidFill>
                  <a:schemeClr val="tx1"/>
                </a:solidFill>
                <a:effectLst/>
                <a:latin typeface="+mn-lt"/>
                <a:ea typeface="+mn-ea"/>
                <a:cs typeface="+mn-cs"/>
              </a:rPr>
              <a:t> réduire l'errance diagnostique et sécuriser les prescriptions. </a:t>
            </a:r>
          </a:p>
          <a:p>
            <a:r>
              <a:rPr lang="fr-FR" sz="1200" b="1" i="0" kern="1200" dirty="0">
                <a:solidFill>
                  <a:schemeClr val="tx1"/>
                </a:solidFill>
                <a:effectLst/>
                <a:latin typeface="+mn-lt"/>
                <a:ea typeface="+mn-ea"/>
                <a:cs typeface="+mn-cs"/>
              </a:rPr>
              <a:t>Scientifique :</a:t>
            </a:r>
            <a:r>
              <a:rPr lang="fr-FR" sz="1200" b="0" i="0" kern="1200" dirty="0">
                <a:solidFill>
                  <a:schemeClr val="tx1"/>
                </a:solidFill>
                <a:effectLst/>
                <a:latin typeface="+mn-lt"/>
                <a:ea typeface="+mn-ea"/>
                <a:cs typeface="+mn-cs"/>
              </a:rPr>
              <a:t> découvrir de nouvelles cibles thérapeutiques et mieux comprendre nos maladies fondatrices. </a:t>
            </a:r>
          </a:p>
          <a:p>
            <a:r>
              <a:rPr lang="fr-FR" sz="1200" b="1" i="0" kern="1200" dirty="0">
                <a:solidFill>
                  <a:schemeClr val="tx1"/>
                </a:solidFill>
                <a:effectLst/>
                <a:latin typeface="+mn-lt"/>
                <a:ea typeface="+mn-ea"/>
                <a:cs typeface="+mn-cs"/>
              </a:rPr>
              <a:t>Éthique :</a:t>
            </a:r>
            <a:r>
              <a:rPr lang="fr-FR" sz="1200" b="0" i="0" kern="1200" dirty="0">
                <a:solidFill>
                  <a:schemeClr val="tx1"/>
                </a:solidFill>
                <a:effectLst/>
                <a:latin typeface="+mn-lt"/>
                <a:ea typeface="+mn-ea"/>
                <a:cs typeface="+mn-cs"/>
              </a:rPr>
              <a:t> réparer l'injustice épistémique en incluant enfin les populations ultramarines dans l'innovation biomédicale mondiale. </a:t>
            </a:r>
            <a:br>
              <a:rPr lang="fr-FR" sz="1200" b="0" i="0" kern="1200" dirty="0">
                <a:solidFill>
                  <a:schemeClr val="tx1"/>
                </a:solidFill>
                <a:effectLst/>
                <a:latin typeface="+mn-lt"/>
                <a:ea typeface="+mn-ea"/>
                <a:cs typeface="+mn-cs"/>
              </a:rPr>
            </a:br>
            <a:r>
              <a:rPr lang="fr-FR" sz="1200" b="0" i="0" kern="1200" dirty="0">
                <a:solidFill>
                  <a:schemeClr val="tx1"/>
                </a:solidFill>
                <a:effectLst/>
                <a:latin typeface="+mn-lt"/>
                <a:ea typeface="+mn-ea"/>
                <a:cs typeface="+mn-cs"/>
              </a:rPr>
              <a:t/>
            </a:r>
            <a:br>
              <a:rPr lang="fr-FR" sz="1200" b="0" i="0" kern="1200" dirty="0">
                <a:solidFill>
                  <a:schemeClr val="tx1"/>
                </a:solidFill>
                <a:effectLst/>
                <a:latin typeface="+mn-lt"/>
                <a:ea typeface="+mn-ea"/>
                <a:cs typeface="+mn-cs"/>
              </a:rPr>
            </a:br>
            <a:r>
              <a:rPr lang="fr-FR" sz="1200" b="1" i="0" kern="1200" dirty="0">
                <a:solidFill>
                  <a:schemeClr val="tx1"/>
                </a:solidFill>
                <a:effectLst/>
                <a:latin typeface="+mn-lt"/>
                <a:ea typeface="+mn-ea"/>
                <a:cs typeface="+mn-cs"/>
              </a:rPr>
              <a:t>(transition) </a:t>
            </a:r>
            <a:r>
              <a:rPr lang="fr-FR" sz="1200" b="0" i="0" kern="1200" dirty="0">
                <a:solidFill>
                  <a:schemeClr val="tx1"/>
                </a:solidFill>
                <a:effectLst/>
                <a:latin typeface="+mn-lt"/>
                <a:ea typeface="+mn-ea"/>
                <a:cs typeface="+mn-cs"/>
              </a:rPr>
              <a:t>Enfin rendre</a:t>
            </a:r>
            <a:r>
              <a:rPr lang="fr-FR" sz="1200" b="0" i="0" kern="1200" baseline="0" dirty="0">
                <a:solidFill>
                  <a:schemeClr val="tx1"/>
                </a:solidFill>
                <a:effectLst/>
                <a:latin typeface="+mn-lt"/>
                <a:ea typeface="+mn-ea"/>
                <a:cs typeface="+mn-cs"/>
              </a:rPr>
              <a:t> accessible l’ensemble de la base de données des </a:t>
            </a:r>
            <a:r>
              <a:rPr lang="fr-FR" sz="1200" b="0" i="0" kern="1200" baseline="0" dirty="0" err="1">
                <a:solidFill>
                  <a:schemeClr val="tx1"/>
                </a:solidFill>
                <a:effectLst/>
                <a:latin typeface="+mn-lt"/>
                <a:ea typeface="+mn-ea"/>
                <a:cs typeface="+mn-cs"/>
              </a:rPr>
              <a:t>variants</a:t>
            </a:r>
            <a:r>
              <a:rPr lang="fr-FR" sz="1200" b="0" i="0" kern="1200" baseline="0" dirty="0">
                <a:solidFill>
                  <a:schemeClr val="tx1"/>
                </a:solidFill>
                <a:effectLst/>
                <a:latin typeface="+mn-lt"/>
                <a:ea typeface="+mn-ea"/>
                <a:cs typeface="+mn-cs"/>
              </a:rPr>
              <a:t>.</a:t>
            </a:r>
            <a:endParaRPr lang="fr-FR" b="0" dirty="0"/>
          </a:p>
        </p:txBody>
      </p:sp>
      <p:sp>
        <p:nvSpPr>
          <p:cNvPr id="4" name="Espace réservé du numéro de diapositive 3"/>
          <p:cNvSpPr>
            <a:spLocks noGrp="1"/>
          </p:cNvSpPr>
          <p:nvPr>
            <p:ph type="sldNum" sz="quarter" idx="10"/>
          </p:nvPr>
        </p:nvSpPr>
        <p:spPr/>
        <p:txBody>
          <a:bodyPr/>
          <a:lstStyle/>
          <a:p>
            <a:fld id="{42F46777-C27D-46EC-B16A-9D0B5FF2F26D}" type="slidenum">
              <a:rPr lang="fr-FR" smtClean="0"/>
              <a:t>10</a:t>
            </a:fld>
            <a:endParaRPr lang="fr-FR"/>
          </a:p>
        </p:txBody>
      </p:sp>
    </p:spTree>
    <p:extLst>
      <p:ext uri="{BB962C8B-B14F-4D97-AF65-F5344CB8AC3E}">
        <p14:creationId xmlns:p14="http://schemas.microsoft.com/office/powerpoint/2010/main" val="5797275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1" i="0" kern="1200" dirty="0">
                <a:solidFill>
                  <a:schemeClr val="tx1"/>
                </a:solidFill>
                <a:effectLst/>
                <a:latin typeface="+mn-lt"/>
                <a:ea typeface="+mn-ea"/>
                <a:cs typeface="+mn-cs"/>
              </a:rPr>
              <a:t>(transition) </a:t>
            </a:r>
            <a:r>
              <a:rPr lang="fr-FR" sz="1200" b="0" i="0" kern="1200" dirty="0">
                <a:solidFill>
                  <a:schemeClr val="tx1"/>
                </a:solidFill>
                <a:effectLst/>
                <a:latin typeface="+mn-lt"/>
                <a:ea typeface="+mn-ea"/>
                <a:cs typeface="+mn-cs"/>
              </a:rPr>
              <a:t>Enfin rendre</a:t>
            </a:r>
            <a:r>
              <a:rPr lang="fr-FR" sz="1200" b="0" i="0" kern="1200" baseline="0" dirty="0">
                <a:solidFill>
                  <a:schemeClr val="tx1"/>
                </a:solidFill>
                <a:effectLst/>
                <a:latin typeface="+mn-lt"/>
                <a:ea typeface="+mn-ea"/>
                <a:cs typeface="+mn-cs"/>
              </a:rPr>
              <a:t> accessible l’ensemble de la base de données des </a:t>
            </a:r>
            <a:r>
              <a:rPr lang="fr-FR" sz="1200" b="0" i="0" kern="1200" baseline="0" dirty="0" err="1">
                <a:solidFill>
                  <a:schemeClr val="tx1"/>
                </a:solidFill>
                <a:effectLst/>
                <a:latin typeface="+mn-lt"/>
                <a:ea typeface="+mn-ea"/>
                <a:cs typeface="+mn-cs"/>
              </a:rPr>
              <a:t>variants</a:t>
            </a:r>
            <a:r>
              <a:rPr lang="fr-FR" sz="1200" b="0" i="0" kern="1200" baseline="0" dirty="0">
                <a:solidFill>
                  <a:schemeClr val="tx1"/>
                </a:solidFill>
                <a:effectLst/>
                <a:latin typeface="+mn-lt"/>
                <a:ea typeface="+mn-ea"/>
                <a:cs typeface="+mn-cs"/>
              </a:rPr>
              <a:t>.</a:t>
            </a:r>
          </a:p>
          <a:p>
            <a:endParaRPr lang="fr-FR" sz="1200" b="0" i="0" kern="1200" baseline="0" dirty="0">
              <a:solidFill>
                <a:schemeClr val="tx1"/>
              </a:solidFill>
              <a:effectLst/>
              <a:latin typeface="+mn-lt"/>
              <a:ea typeface="+mn-ea"/>
              <a:cs typeface="+mn-cs"/>
            </a:endParaRPr>
          </a:p>
          <a:p>
            <a:r>
              <a:rPr lang="fr-FR" sz="1200" b="0" i="0" kern="1200" dirty="0">
                <a:solidFill>
                  <a:schemeClr val="tx1"/>
                </a:solidFill>
                <a:effectLst/>
                <a:latin typeface="+mn-lt"/>
                <a:ea typeface="+mn-ea"/>
                <a:cs typeface="+mn-cs"/>
              </a:rPr>
              <a:t>Nous voulons transformer La Réunion de "point aveugle" en "modèle de diversité" pour la science mondiale. En enrichissant des bases comme </a:t>
            </a:r>
            <a:r>
              <a:rPr lang="fr-FR" sz="1200" b="0" i="0" kern="1200" dirty="0" err="1">
                <a:solidFill>
                  <a:schemeClr val="tx1"/>
                </a:solidFill>
                <a:effectLst/>
                <a:latin typeface="+mn-lt"/>
                <a:ea typeface="+mn-ea"/>
                <a:cs typeface="+mn-cs"/>
              </a:rPr>
              <a:t>gnomAD</a:t>
            </a:r>
            <a:r>
              <a:rPr lang="fr-FR" sz="1200" b="0" i="0" kern="1200" dirty="0">
                <a:solidFill>
                  <a:schemeClr val="tx1"/>
                </a:solidFill>
                <a:effectLst/>
                <a:latin typeface="+mn-lt"/>
                <a:ea typeface="+mn-ea"/>
                <a:cs typeface="+mn-cs"/>
              </a:rPr>
              <a:t> ou </a:t>
            </a:r>
            <a:r>
              <a:rPr lang="fr-FR" sz="1200" b="0" i="0" kern="1200" dirty="0" err="1">
                <a:solidFill>
                  <a:schemeClr val="tx1"/>
                </a:solidFill>
                <a:effectLst/>
                <a:latin typeface="+mn-lt"/>
                <a:ea typeface="+mn-ea"/>
                <a:cs typeface="+mn-cs"/>
              </a:rPr>
              <a:t>ClinVar</a:t>
            </a:r>
            <a:r>
              <a:rPr lang="fr-FR" sz="1200" b="0" i="0" kern="1200" dirty="0">
                <a:solidFill>
                  <a:schemeClr val="tx1"/>
                </a:solidFill>
                <a:effectLst/>
                <a:latin typeface="+mn-lt"/>
                <a:ea typeface="+mn-ea"/>
                <a:cs typeface="+mn-cs"/>
              </a:rPr>
              <a:t>, nous aidons à calibrer les scores prédictifs pour toutes les populations métissées du globe. Notre étude de l'</a:t>
            </a:r>
            <a:r>
              <a:rPr lang="fr-FR" sz="1200" b="0" i="0" kern="1200" dirty="0" err="1">
                <a:solidFill>
                  <a:schemeClr val="tx1"/>
                </a:solidFill>
                <a:effectLst/>
                <a:latin typeface="+mn-lt"/>
                <a:ea typeface="+mn-ea"/>
                <a:cs typeface="+mn-cs"/>
              </a:rPr>
              <a:t>admixture</a:t>
            </a:r>
            <a:r>
              <a:rPr lang="fr-FR" sz="1200" b="0" i="0" kern="1200" dirty="0">
                <a:solidFill>
                  <a:schemeClr val="tx1"/>
                </a:solidFill>
                <a:effectLst/>
                <a:latin typeface="+mn-lt"/>
                <a:ea typeface="+mn-ea"/>
                <a:cs typeface="+mn-cs"/>
              </a:rPr>
              <a:t> dans les différente axes cités plus haut, sera une contribution majeure à la compréhension de l'évolution humaine et de l'épidémiologie. </a:t>
            </a:r>
            <a:endParaRPr lang="fr-FR" dirty="0"/>
          </a:p>
        </p:txBody>
      </p:sp>
      <p:sp>
        <p:nvSpPr>
          <p:cNvPr id="4" name="Espace réservé du numéro de diapositive 3"/>
          <p:cNvSpPr>
            <a:spLocks noGrp="1"/>
          </p:cNvSpPr>
          <p:nvPr>
            <p:ph type="sldNum" sz="quarter" idx="5"/>
          </p:nvPr>
        </p:nvSpPr>
        <p:spPr/>
        <p:txBody>
          <a:bodyPr/>
          <a:lstStyle/>
          <a:p>
            <a:fld id="{42F46777-C27D-46EC-B16A-9D0B5FF2F26D}" type="slidenum">
              <a:rPr lang="fr-FR" smtClean="0"/>
              <a:t>11</a:t>
            </a:fld>
            <a:endParaRPr lang="fr-FR"/>
          </a:p>
        </p:txBody>
      </p:sp>
    </p:spTree>
    <p:extLst>
      <p:ext uri="{BB962C8B-B14F-4D97-AF65-F5344CB8AC3E}">
        <p14:creationId xmlns:p14="http://schemas.microsoft.com/office/powerpoint/2010/main" val="3123985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rgbClr val="233F60"/>
                </a:solidFill>
              </a:rPr>
              <a:t>Le Projet Génome Réunion n’est pas</a:t>
            </a:r>
            <a:r>
              <a:rPr lang="fr-FR" sz="1200" baseline="0" dirty="0">
                <a:solidFill>
                  <a:srgbClr val="233F60"/>
                </a:solidFill>
              </a:rPr>
              <a:t> </a:t>
            </a:r>
            <a:r>
              <a:rPr lang="fr-FR" sz="1200" dirty="0">
                <a:solidFill>
                  <a:srgbClr val="233F60"/>
                </a:solidFill>
              </a:rPr>
              <a:t>seulement une nécessité scientifique,</a:t>
            </a:r>
            <a:r>
              <a:rPr lang="fr-FR" sz="1200" baseline="0" dirty="0">
                <a:solidFill>
                  <a:srgbClr val="233F60"/>
                </a:solidFill>
              </a:rPr>
              <a:t> </a:t>
            </a:r>
            <a:r>
              <a:rPr lang="fr-FR" sz="1200" dirty="0">
                <a:solidFill>
                  <a:srgbClr val="233F60"/>
                </a:solidFill>
              </a:rPr>
              <a:t>c’est un impératif de santé publique. Ne pas agir, c’est accepter que l’innovation médicale et pharmaceutique de demain se fasse sans nous. </a:t>
            </a:r>
            <a:br>
              <a:rPr lang="fr-FR" sz="1200" dirty="0">
                <a:solidFill>
                  <a:srgbClr val="233F60"/>
                </a:solidFill>
              </a:rPr>
            </a:br>
            <a:r>
              <a:rPr lang="fr-FR" sz="1200" dirty="0">
                <a:solidFill>
                  <a:srgbClr val="233F60"/>
                </a:solidFill>
              </a:rPr>
              <a:t/>
            </a:r>
            <a:br>
              <a:rPr lang="fr-FR" sz="1200" dirty="0">
                <a:solidFill>
                  <a:srgbClr val="233F60"/>
                </a:solidFill>
              </a:rPr>
            </a:br>
            <a:r>
              <a:rPr lang="fr-FR" sz="1200" dirty="0">
                <a:solidFill>
                  <a:srgbClr val="233F60"/>
                </a:solidFill>
              </a:rPr>
              <a:t>Merci de votre écoute.</a:t>
            </a:r>
          </a:p>
          <a:p>
            <a:endParaRPr lang="fr-FR" sz="1200" dirty="0">
              <a:solidFill>
                <a:srgbClr val="233F60"/>
              </a:solidFill>
            </a:endParaRPr>
          </a:p>
          <a:p>
            <a:endParaRPr lang="fr-FR" dirty="0"/>
          </a:p>
        </p:txBody>
      </p:sp>
      <p:sp>
        <p:nvSpPr>
          <p:cNvPr id="4" name="Espace réservé du numéro de diapositive 3"/>
          <p:cNvSpPr>
            <a:spLocks noGrp="1"/>
          </p:cNvSpPr>
          <p:nvPr>
            <p:ph type="sldNum" sz="quarter" idx="5"/>
          </p:nvPr>
        </p:nvSpPr>
        <p:spPr/>
        <p:txBody>
          <a:bodyPr/>
          <a:lstStyle/>
          <a:p>
            <a:fld id="{42F46777-C27D-46EC-B16A-9D0B5FF2F26D}" type="slidenum">
              <a:rPr lang="fr-FR" smtClean="0"/>
              <a:t>12</a:t>
            </a:fld>
            <a:endParaRPr lang="fr-FR"/>
          </a:p>
        </p:txBody>
      </p:sp>
    </p:spTree>
    <p:extLst>
      <p:ext uri="{BB962C8B-B14F-4D97-AF65-F5344CB8AC3E}">
        <p14:creationId xmlns:p14="http://schemas.microsoft.com/office/powerpoint/2010/main" val="2038306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A809144-5297-47C0-A26E-D0B15132AD3B}" type="datetime1">
              <a:rPr lang="fr-FR" smtClean="0"/>
              <a:t>04/03/2026</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B2D9D3F1-7143-479B-A703-8A73FE76077D}" type="slidenum">
              <a:rPr lang="fr-FR" smtClean="0"/>
              <a:t>‹N°›</a:t>
            </a:fld>
            <a:endParaRPr lang="fr-FR" dirty="0"/>
          </a:p>
        </p:txBody>
      </p:sp>
    </p:spTree>
    <p:extLst>
      <p:ext uri="{BB962C8B-B14F-4D97-AF65-F5344CB8AC3E}">
        <p14:creationId xmlns:p14="http://schemas.microsoft.com/office/powerpoint/2010/main" val="3139570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0C545872-A35D-40F2-91AB-E847591C4A9B}" type="datetime1">
              <a:rPr lang="fr-FR" smtClean="0"/>
              <a:t>04/03/2026</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B2D9D3F1-7143-479B-A703-8A73FE76077D}" type="slidenum">
              <a:rPr lang="fr-FR" smtClean="0"/>
              <a:t>‹N°›</a:t>
            </a:fld>
            <a:endParaRPr lang="fr-FR" dirty="0"/>
          </a:p>
        </p:txBody>
      </p:sp>
    </p:spTree>
    <p:extLst>
      <p:ext uri="{BB962C8B-B14F-4D97-AF65-F5344CB8AC3E}">
        <p14:creationId xmlns:p14="http://schemas.microsoft.com/office/powerpoint/2010/main" val="302748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F3CCAC9F-1521-45FE-B30F-A8B9BD4D019D}" type="datetime1">
              <a:rPr lang="fr-FR" smtClean="0"/>
              <a:t>04/03/2026</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B2D9D3F1-7143-479B-A703-8A73FE76077D}" type="slidenum">
              <a:rPr lang="fr-FR" smtClean="0"/>
              <a:t>‹N°›</a:t>
            </a:fld>
            <a:endParaRPr lang="fr-FR" dirty="0"/>
          </a:p>
        </p:txBody>
      </p:sp>
    </p:spTree>
    <p:extLst>
      <p:ext uri="{BB962C8B-B14F-4D97-AF65-F5344CB8AC3E}">
        <p14:creationId xmlns:p14="http://schemas.microsoft.com/office/powerpoint/2010/main" val="968496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9D0422EB-B7FC-425C-BED7-82031A78537E}" type="datetime1">
              <a:rPr lang="fr-FR" smtClean="0"/>
              <a:t>04/03/2026</a:t>
            </a:fld>
            <a:endParaRPr lang="fr-FR" dirty="0"/>
          </a:p>
        </p:txBody>
      </p:sp>
      <p:sp>
        <p:nvSpPr>
          <p:cNvPr id="6" name="Espace réservé du pied de page 5"/>
          <p:cNvSpPr>
            <a:spLocks noGrp="1"/>
          </p:cNvSpPr>
          <p:nvPr>
            <p:ph type="ftr" sz="quarter" idx="11"/>
          </p:nvPr>
        </p:nvSpPr>
        <p:spPr/>
        <p:txBody>
          <a:bodyPr/>
          <a:lstStyle/>
          <a:p>
            <a:endParaRPr lang="fr-FR" dirty="0"/>
          </a:p>
        </p:txBody>
      </p:sp>
      <p:sp>
        <p:nvSpPr>
          <p:cNvPr id="7" name="Espace réservé du numéro de diapositive 6"/>
          <p:cNvSpPr>
            <a:spLocks noGrp="1"/>
          </p:cNvSpPr>
          <p:nvPr>
            <p:ph type="sldNum" sz="quarter" idx="12"/>
          </p:nvPr>
        </p:nvSpPr>
        <p:spPr/>
        <p:txBody>
          <a:bodyPr/>
          <a:lstStyle/>
          <a:p>
            <a:fld id="{B2D9D3F1-7143-479B-A703-8A73FE76077D}" type="slidenum">
              <a:rPr lang="fr-FR" smtClean="0"/>
              <a:t>‹N°›</a:t>
            </a:fld>
            <a:endParaRPr lang="fr-FR" dirty="0"/>
          </a:p>
        </p:txBody>
      </p:sp>
    </p:spTree>
    <p:extLst>
      <p:ext uri="{BB962C8B-B14F-4D97-AF65-F5344CB8AC3E}">
        <p14:creationId xmlns:p14="http://schemas.microsoft.com/office/powerpoint/2010/main" val="1908409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3ADDD50A-0C44-4183-8233-6B94A5659BE4}" type="datetime1">
              <a:rPr lang="fr-FR" smtClean="0"/>
              <a:t>04/03/2026</a:t>
            </a:fld>
            <a:endParaRPr lang="fr-FR" dirty="0"/>
          </a:p>
        </p:txBody>
      </p:sp>
      <p:sp>
        <p:nvSpPr>
          <p:cNvPr id="8" name="Espace réservé du pied de page 7"/>
          <p:cNvSpPr>
            <a:spLocks noGrp="1"/>
          </p:cNvSpPr>
          <p:nvPr>
            <p:ph type="ftr" sz="quarter" idx="11"/>
          </p:nvPr>
        </p:nvSpPr>
        <p:spPr/>
        <p:txBody>
          <a:bodyPr/>
          <a:lstStyle/>
          <a:p>
            <a:endParaRPr lang="fr-FR" dirty="0"/>
          </a:p>
        </p:txBody>
      </p:sp>
      <p:sp>
        <p:nvSpPr>
          <p:cNvPr id="9" name="Espace réservé du numéro de diapositive 8"/>
          <p:cNvSpPr>
            <a:spLocks noGrp="1"/>
          </p:cNvSpPr>
          <p:nvPr>
            <p:ph type="sldNum" sz="quarter" idx="12"/>
          </p:nvPr>
        </p:nvSpPr>
        <p:spPr/>
        <p:txBody>
          <a:bodyPr/>
          <a:lstStyle/>
          <a:p>
            <a:fld id="{B2D9D3F1-7143-479B-A703-8A73FE76077D}" type="slidenum">
              <a:rPr lang="fr-FR" smtClean="0"/>
              <a:t>‹N°›</a:t>
            </a:fld>
            <a:endParaRPr lang="fr-FR" dirty="0"/>
          </a:p>
        </p:txBody>
      </p:sp>
    </p:spTree>
    <p:extLst>
      <p:ext uri="{BB962C8B-B14F-4D97-AF65-F5344CB8AC3E}">
        <p14:creationId xmlns:p14="http://schemas.microsoft.com/office/powerpoint/2010/main" val="39227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FF9DAC4B-6923-4439-B0D5-7C68BA5F787E}" type="datetime1">
              <a:rPr lang="fr-FR" smtClean="0"/>
              <a:t>04/03/2026</a:t>
            </a:fld>
            <a:endParaRPr lang="fr-FR" dirty="0"/>
          </a:p>
        </p:txBody>
      </p:sp>
      <p:sp>
        <p:nvSpPr>
          <p:cNvPr id="4" name="Espace réservé du pied de page 3"/>
          <p:cNvSpPr>
            <a:spLocks noGrp="1"/>
          </p:cNvSpPr>
          <p:nvPr>
            <p:ph type="ftr" sz="quarter" idx="11"/>
          </p:nvPr>
        </p:nvSpPr>
        <p:spPr/>
        <p:txBody>
          <a:bodyPr/>
          <a:lstStyle/>
          <a:p>
            <a:endParaRPr lang="fr-FR" dirty="0"/>
          </a:p>
        </p:txBody>
      </p:sp>
      <p:sp>
        <p:nvSpPr>
          <p:cNvPr id="5" name="Espace réservé du numéro de diapositive 4"/>
          <p:cNvSpPr>
            <a:spLocks noGrp="1"/>
          </p:cNvSpPr>
          <p:nvPr>
            <p:ph type="sldNum" sz="quarter" idx="12"/>
          </p:nvPr>
        </p:nvSpPr>
        <p:spPr/>
        <p:txBody>
          <a:bodyPr/>
          <a:lstStyle/>
          <a:p>
            <a:fld id="{B2D9D3F1-7143-479B-A703-8A73FE76077D}" type="slidenum">
              <a:rPr lang="fr-FR" smtClean="0"/>
              <a:t>‹N°›</a:t>
            </a:fld>
            <a:endParaRPr lang="fr-FR" dirty="0"/>
          </a:p>
        </p:txBody>
      </p:sp>
    </p:spTree>
    <p:extLst>
      <p:ext uri="{BB962C8B-B14F-4D97-AF65-F5344CB8AC3E}">
        <p14:creationId xmlns:p14="http://schemas.microsoft.com/office/powerpoint/2010/main" val="1064286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911FC3D7-C2D6-4B0E-8330-A19D663B190A}" type="datetime1">
              <a:rPr lang="fr-FR" smtClean="0"/>
              <a:t>04/03/2026</a:t>
            </a:fld>
            <a:endParaRPr lang="fr-FR" dirty="0"/>
          </a:p>
        </p:txBody>
      </p:sp>
      <p:sp>
        <p:nvSpPr>
          <p:cNvPr id="3" name="Espace réservé du pied de page 2"/>
          <p:cNvSpPr>
            <a:spLocks noGrp="1"/>
          </p:cNvSpPr>
          <p:nvPr>
            <p:ph type="ftr" sz="quarter" idx="11"/>
          </p:nvPr>
        </p:nvSpPr>
        <p:spPr/>
        <p:txBody>
          <a:bodyPr/>
          <a:lstStyle/>
          <a:p>
            <a:endParaRPr lang="fr-FR" dirty="0"/>
          </a:p>
        </p:txBody>
      </p:sp>
      <p:sp>
        <p:nvSpPr>
          <p:cNvPr id="4" name="Espace réservé du numéro de diapositive 3"/>
          <p:cNvSpPr>
            <a:spLocks noGrp="1"/>
          </p:cNvSpPr>
          <p:nvPr>
            <p:ph type="sldNum" sz="quarter" idx="12"/>
          </p:nvPr>
        </p:nvSpPr>
        <p:spPr/>
        <p:txBody>
          <a:bodyPr/>
          <a:lstStyle/>
          <a:p>
            <a:fld id="{B2D9D3F1-7143-479B-A703-8A73FE76077D}" type="slidenum">
              <a:rPr lang="fr-FR" smtClean="0"/>
              <a:t>‹N°›</a:t>
            </a:fld>
            <a:endParaRPr lang="fr-FR" dirty="0"/>
          </a:p>
        </p:txBody>
      </p:sp>
    </p:spTree>
    <p:extLst>
      <p:ext uri="{BB962C8B-B14F-4D97-AF65-F5344CB8AC3E}">
        <p14:creationId xmlns:p14="http://schemas.microsoft.com/office/powerpoint/2010/main" val="1947429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175C09E3-1DFC-4B64-817E-278897636053}" type="datetime1">
              <a:rPr lang="fr-FR" smtClean="0"/>
              <a:t>04/03/2026</a:t>
            </a:fld>
            <a:endParaRPr lang="fr-FR" dirty="0"/>
          </a:p>
        </p:txBody>
      </p:sp>
      <p:sp>
        <p:nvSpPr>
          <p:cNvPr id="6" name="Espace réservé du pied de page 5"/>
          <p:cNvSpPr>
            <a:spLocks noGrp="1"/>
          </p:cNvSpPr>
          <p:nvPr>
            <p:ph type="ftr" sz="quarter" idx="11"/>
          </p:nvPr>
        </p:nvSpPr>
        <p:spPr/>
        <p:txBody>
          <a:bodyPr/>
          <a:lstStyle/>
          <a:p>
            <a:endParaRPr lang="fr-FR" dirty="0"/>
          </a:p>
        </p:txBody>
      </p:sp>
      <p:sp>
        <p:nvSpPr>
          <p:cNvPr id="7" name="Espace réservé du numéro de diapositive 6"/>
          <p:cNvSpPr>
            <a:spLocks noGrp="1"/>
          </p:cNvSpPr>
          <p:nvPr>
            <p:ph type="sldNum" sz="quarter" idx="12"/>
          </p:nvPr>
        </p:nvSpPr>
        <p:spPr/>
        <p:txBody>
          <a:bodyPr/>
          <a:lstStyle/>
          <a:p>
            <a:fld id="{B2D9D3F1-7143-479B-A703-8A73FE76077D}" type="slidenum">
              <a:rPr lang="fr-FR" smtClean="0"/>
              <a:t>‹N°›</a:t>
            </a:fld>
            <a:endParaRPr lang="fr-FR" dirty="0"/>
          </a:p>
        </p:txBody>
      </p:sp>
    </p:spTree>
    <p:extLst>
      <p:ext uri="{BB962C8B-B14F-4D97-AF65-F5344CB8AC3E}">
        <p14:creationId xmlns:p14="http://schemas.microsoft.com/office/powerpoint/2010/main" val="939769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dirty="0"/>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542AE8CF-9302-4105-8E9B-3AD91C005224}" type="datetime1">
              <a:rPr lang="fr-FR" smtClean="0"/>
              <a:t>04/03/2026</a:t>
            </a:fld>
            <a:endParaRPr lang="fr-FR" dirty="0"/>
          </a:p>
        </p:txBody>
      </p:sp>
      <p:sp>
        <p:nvSpPr>
          <p:cNvPr id="6" name="Espace réservé du pied de page 5"/>
          <p:cNvSpPr>
            <a:spLocks noGrp="1"/>
          </p:cNvSpPr>
          <p:nvPr>
            <p:ph type="ftr" sz="quarter" idx="11"/>
          </p:nvPr>
        </p:nvSpPr>
        <p:spPr/>
        <p:txBody>
          <a:bodyPr/>
          <a:lstStyle/>
          <a:p>
            <a:endParaRPr lang="fr-FR" dirty="0"/>
          </a:p>
        </p:txBody>
      </p:sp>
      <p:sp>
        <p:nvSpPr>
          <p:cNvPr id="7" name="Espace réservé du numéro de diapositive 6"/>
          <p:cNvSpPr>
            <a:spLocks noGrp="1"/>
          </p:cNvSpPr>
          <p:nvPr>
            <p:ph type="sldNum" sz="quarter" idx="12"/>
          </p:nvPr>
        </p:nvSpPr>
        <p:spPr/>
        <p:txBody>
          <a:bodyPr/>
          <a:lstStyle/>
          <a:p>
            <a:fld id="{B2D9D3F1-7143-479B-A703-8A73FE76077D}" type="slidenum">
              <a:rPr lang="fr-FR" smtClean="0"/>
              <a:t>‹N°›</a:t>
            </a:fld>
            <a:endParaRPr lang="fr-FR" dirty="0"/>
          </a:p>
        </p:txBody>
      </p:sp>
    </p:spTree>
    <p:extLst>
      <p:ext uri="{BB962C8B-B14F-4D97-AF65-F5344CB8AC3E}">
        <p14:creationId xmlns:p14="http://schemas.microsoft.com/office/powerpoint/2010/main" val="2410937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60BB1A9-55AE-4C03-8CB6-B10341D4B70E}" type="datetime1">
              <a:rPr lang="fr-FR" smtClean="0"/>
              <a:t>04/03/2026</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B2D9D3F1-7143-479B-A703-8A73FE76077D}" type="slidenum">
              <a:rPr lang="fr-FR" smtClean="0"/>
              <a:t>‹N°›</a:t>
            </a:fld>
            <a:endParaRPr lang="fr-FR" dirty="0"/>
          </a:p>
        </p:txBody>
      </p:sp>
    </p:spTree>
    <p:extLst>
      <p:ext uri="{BB962C8B-B14F-4D97-AF65-F5344CB8AC3E}">
        <p14:creationId xmlns:p14="http://schemas.microsoft.com/office/powerpoint/2010/main" val="1290895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ADED3F7C-E1D7-4D67-9010-9787502E3F7B}" type="datetime1">
              <a:rPr lang="fr-FR" smtClean="0"/>
              <a:t>04/03/2026</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B2D9D3F1-7143-479B-A703-8A73FE76077D}" type="slidenum">
              <a:rPr lang="fr-FR" smtClean="0"/>
              <a:t>‹N°›</a:t>
            </a:fld>
            <a:endParaRPr lang="fr-FR" dirty="0"/>
          </a:p>
        </p:txBody>
      </p:sp>
    </p:spTree>
    <p:extLst>
      <p:ext uri="{BB962C8B-B14F-4D97-AF65-F5344CB8AC3E}">
        <p14:creationId xmlns:p14="http://schemas.microsoft.com/office/powerpoint/2010/main" val="2284639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4A1CF1-EA2F-45AF-A2EC-FF2A3253C0F1}" type="datetime1">
              <a:rPr lang="fr-FR" smtClean="0"/>
              <a:t>04/03/2026</a:t>
            </a:fld>
            <a:endParaRPr lang="fr-FR" dirty="0"/>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9D3F1-7143-479B-A703-8A73FE76077D}" type="slidenum">
              <a:rPr lang="fr-FR" smtClean="0"/>
              <a:t>‹N°›</a:t>
            </a:fld>
            <a:endParaRPr lang="fr-FR" dirty="0"/>
          </a:p>
        </p:txBody>
      </p:sp>
    </p:spTree>
    <p:extLst>
      <p:ext uri="{BB962C8B-B14F-4D97-AF65-F5344CB8AC3E}">
        <p14:creationId xmlns:p14="http://schemas.microsoft.com/office/powerpoint/2010/main" val="25526575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F3F6"/>
        </a:solidFill>
        <a:effectLst/>
      </p:bgPr>
    </p:bg>
    <p:spTree>
      <p:nvGrpSpPr>
        <p:cNvPr id="1" name=""/>
        <p:cNvGrpSpPr/>
        <p:nvPr/>
      </p:nvGrpSpPr>
      <p:grpSpPr>
        <a:xfrm>
          <a:off x="0" y="0"/>
          <a:ext cx="0" cy="0"/>
          <a:chOff x="0" y="0"/>
          <a:chExt cx="0" cy="0"/>
        </a:xfrm>
      </p:grpSpPr>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12" y="0"/>
            <a:ext cx="12305023" cy="6857999"/>
          </a:xfrm>
          <a:prstGeom prst="rect">
            <a:avLst/>
          </a:prstGeom>
        </p:spPr>
      </p:pic>
      <p:pic>
        <p:nvPicPr>
          <p:cNvPr id="4" name="Image 3"/>
          <p:cNvPicPr>
            <a:picLocks noChangeAspect="1"/>
          </p:cNvPicPr>
          <p:nvPr/>
        </p:nvPicPr>
        <p:blipFill rotWithShape="1">
          <a:blip r:embed="rId4" cstate="print">
            <a:extLst>
              <a:ext uri="{28A0092B-C50C-407E-A947-70E740481C1C}">
                <a14:useLocalDpi xmlns:a14="http://schemas.microsoft.com/office/drawing/2010/main" val="0"/>
              </a:ext>
            </a:extLst>
          </a:blip>
          <a:srcRect l="22500" t="58333" r="21250" b="17500"/>
          <a:stretch/>
        </p:blipFill>
        <p:spPr>
          <a:xfrm>
            <a:off x="10046526" y="-43542"/>
            <a:ext cx="2201985" cy="1419057"/>
          </a:xfrm>
          <a:prstGeom prst="rect">
            <a:avLst/>
          </a:prstGeom>
        </p:spPr>
      </p:pic>
      <p:sp>
        <p:nvSpPr>
          <p:cNvPr id="6" name="ZoneTexte 5"/>
          <p:cNvSpPr txBox="1"/>
          <p:nvPr/>
        </p:nvSpPr>
        <p:spPr>
          <a:xfrm>
            <a:off x="364402" y="217714"/>
            <a:ext cx="5205974" cy="1661993"/>
          </a:xfrm>
          <a:prstGeom prst="rect">
            <a:avLst/>
          </a:prstGeom>
          <a:noFill/>
        </p:spPr>
        <p:txBody>
          <a:bodyPr wrap="square" rtlCol="0">
            <a:spAutoFit/>
          </a:bodyPr>
          <a:lstStyle/>
          <a:p>
            <a:r>
              <a:rPr lang="fr-FR" sz="3400" b="1" dirty="0">
                <a:solidFill>
                  <a:srgbClr val="233F60"/>
                </a:solidFill>
              </a:rPr>
              <a:t> Projet Génome Réunion:</a:t>
            </a:r>
          </a:p>
          <a:p>
            <a:r>
              <a:rPr lang="fr-FR" sz="3400" b="1" dirty="0">
                <a:solidFill>
                  <a:srgbClr val="233F60"/>
                </a:solidFill>
              </a:rPr>
              <a:t>Vers une équité de la médecine de précision</a:t>
            </a:r>
          </a:p>
        </p:txBody>
      </p:sp>
      <p:sp>
        <p:nvSpPr>
          <p:cNvPr id="8" name="ZoneTexte 7"/>
          <p:cNvSpPr txBox="1"/>
          <p:nvPr/>
        </p:nvSpPr>
        <p:spPr>
          <a:xfrm>
            <a:off x="364402" y="1923249"/>
            <a:ext cx="3931827" cy="646331"/>
          </a:xfrm>
          <a:prstGeom prst="rect">
            <a:avLst/>
          </a:prstGeom>
          <a:noFill/>
        </p:spPr>
        <p:txBody>
          <a:bodyPr wrap="square" rtlCol="0">
            <a:spAutoFit/>
          </a:bodyPr>
          <a:lstStyle/>
          <a:p>
            <a:r>
              <a:rPr lang="fr-FR" dirty="0">
                <a:solidFill>
                  <a:srgbClr val="233F60"/>
                </a:solidFill>
              </a:rPr>
              <a:t>Combler le fossé génomique pour une population métissée</a:t>
            </a:r>
          </a:p>
        </p:txBody>
      </p:sp>
      <p:sp>
        <p:nvSpPr>
          <p:cNvPr id="9" name="ZoneTexte 8"/>
          <p:cNvSpPr txBox="1"/>
          <p:nvPr/>
        </p:nvSpPr>
        <p:spPr>
          <a:xfrm>
            <a:off x="8003440" y="6481960"/>
            <a:ext cx="2976465" cy="307777"/>
          </a:xfrm>
          <a:prstGeom prst="rect">
            <a:avLst/>
          </a:prstGeom>
          <a:noFill/>
        </p:spPr>
        <p:txBody>
          <a:bodyPr wrap="square" rtlCol="0">
            <a:spAutoFit/>
          </a:bodyPr>
          <a:lstStyle/>
          <a:p>
            <a:r>
              <a:rPr lang="fr-FR" sz="1400" dirty="0"/>
              <a:t>Un projet stratégique pour 2025-2028</a:t>
            </a:r>
          </a:p>
        </p:txBody>
      </p:sp>
      <p:sp>
        <p:nvSpPr>
          <p:cNvPr id="10" name="ZoneTexte 9"/>
          <p:cNvSpPr txBox="1"/>
          <p:nvPr/>
        </p:nvSpPr>
        <p:spPr>
          <a:xfrm>
            <a:off x="364402" y="2923141"/>
            <a:ext cx="3393559" cy="646331"/>
          </a:xfrm>
          <a:prstGeom prst="rect">
            <a:avLst/>
          </a:prstGeom>
          <a:noFill/>
        </p:spPr>
        <p:txBody>
          <a:bodyPr wrap="square" rtlCol="0">
            <a:spAutoFit/>
          </a:bodyPr>
          <a:lstStyle/>
          <a:p>
            <a:r>
              <a:rPr lang="fr-FR" dirty="0">
                <a:solidFill>
                  <a:srgbClr val="233F60"/>
                </a:solidFill>
              </a:rPr>
              <a:t>Patrick MUNIER, Dr Thomas HUBY,</a:t>
            </a:r>
          </a:p>
          <a:p>
            <a:r>
              <a:rPr lang="fr-FR" dirty="0">
                <a:solidFill>
                  <a:srgbClr val="233F60"/>
                </a:solidFill>
              </a:rPr>
              <a:t>Susie GUILLY</a:t>
            </a:r>
          </a:p>
        </p:txBody>
      </p:sp>
      <p:grpSp>
        <p:nvGrpSpPr>
          <p:cNvPr id="13" name="Groupe 12"/>
          <p:cNvGrpSpPr/>
          <p:nvPr/>
        </p:nvGrpSpPr>
        <p:grpSpPr>
          <a:xfrm>
            <a:off x="364401" y="3738367"/>
            <a:ext cx="3393559" cy="369332"/>
            <a:chOff x="364401" y="3276702"/>
            <a:chExt cx="3393559" cy="369332"/>
          </a:xfrm>
        </p:grpSpPr>
        <p:sp>
          <p:nvSpPr>
            <p:cNvPr id="11" name="ZoneTexte 10"/>
            <p:cNvSpPr txBox="1"/>
            <p:nvPr/>
          </p:nvSpPr>
          <p:spPr>
            <a:xfrm>
              <a:off x="364401" y="3276702"/>
              <a:ext cx="3393559" cy="369332"/>
            </a:xfrm>
            <a:prstGeom prst="rect">
              <a:avLst/>
            </a:prstGeom>
            <a:noFill/>
          </p:spPr>
          <p:txBody>
            <a:bodyPr wrap="square" rtlCol="0">
              <a:spAutoFit/>
            </a:bodyPr>
            <a:lstStyle/>
            <a:p>
              <a:r>
                <a:rPr lang="fr-FR" dirty="0">
                  <a:solidFill>
                    <a:srgbClr val="233F60"/>
                  </a:solidFill>
                </a:rPr>
                <a:t>Design : </a:t>
              </a:r>
            </a:p>
          </p:txBody>
        </p:sp>
        <p:pic>
          <p:nvPicPr>
            <p:cNvPr id="12" name="Imag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93581" y="3323068"/>
              <a:ext cx="1485645" cy="322966"/>
            </a:xfrm>
            <a:prstGeom prst="rect">
              <a:avLst/>
            </a:prstGeom>
          </p:spPr>
        </p:pic>
      </p:grpSp>
      <p:sp>
        <p:nvSpPr>
          <p:cNvPr id="2" name="Espace réservé du numéro de diapositive 1"/>
          <p:cNvSpPr>
            <a:spLocks noGrp="1"/>
          </p:cNvSpPr>
          <p:nvPr>
            <p:ph type="sldNum" sz="quarter" idx="12"/>
          </p:nvPr>
        </p:nvSpPr>
        <p:spPr/>
        <p:txBody>
          <a:bodyPr/>
          <a:lstStyle/>
          <a:p>
            <a:fld id="{B2D9D3F1-7143-479B-A703-8A73FE76077D}" type="slidenum">
              <a:rPr lang="fr-FR" smtClean="0"/>
              <a:t>1</a:t>
            </a:fld>
            <a:endParaRPr lang="fr-FR" dirty="0"/>
          </a:p>
        </p:txBody>
      </p:sp>
    </p:spTree>
    <p:extLst>
      <p:ext uri="{BB962C8B-B14F-4D97-AF65-F5344CB8AC3E}">
        <p14:creationId xmlns:p14="http://schemas.microsoft.com/office/powerpoint/2010/main" val="24631246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F3F6"/>
        </a:solidFill>
        <a:effectLst/>
      </p:bgPr>
    </p:bg>
    <p:spTree>
      <p:nvGrpSpPr>
        <p:cNvPr id="1" name=""/>
        <p:cNvGrpSpPr/>
        <p:nvPr/>
      </p:nvGrpSpPr>
      <p:grpSpPr>
        <a:xfrm>
          <a:off x="0" y="0"/>
          <a:ext cx="0" cy="0"/>
          <a:chOff x="0" y="0"/>
          <a:chExt cx="0" cy="0"/>
        </a:xfrm>
      </p:grpSpPr>
      <p:sp>
        <p:nvSpPr>
          <p:cNvPr id="5" name="ZoneTexte 4"/>
          <p:cNvSpPr txBox="1"/>
          <p:nvPr/>
        </p:nvSpPr>
        <p:spPr>
          <a:xfrm>
            <a:off x="2062065" y="308054"/>
            <a:ext cx="8976049" cy="677108"/>
          </a:xfrm>
          <a:prstGeom prst="rect">
            <a:avLst/>
          </a:prstGeom>
          <a:noFill/>
        </p:spPr>
        <p:txBody>
          <a:bodyPr wrap="square" rtlCol="0">
            <a:spAutoFit/>
          </a:bodyPr>
          <a:lstStyle/>
          <a:p>
            <a:pPr algn="ctr"/>
            <a:r>
              <a:rPr lang="fr-FR" sz="3800" dirty="0">
                <a:solidFill>
                  <a:srgbClr val="233F60"/>
                </a:solidFill>
              </a:rPr>
              <a:t>L’Urgence d’un Référentiel Génomique Local</a:t>
            </a:r>
          </a:p>
        </p:txBody>
      </p:sp>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635" y="1033384"/>
            <a:ext cx="1115974" cy="969350"/>
          </a:xfrm>
          <a:prstGeom prst="rect">
            <a:avLst/>
          </a:prstGeom>
        </p:spPr>
      </p:pic>
      <p:sp>
        <p:nvSpPr>
          <p:cNvPr id="7" name="ZoneTexte 6"/>
          <p:cNvSpPr txBox="1"/>
          <p:nvPr/>
        </p:nvSpPr>
        <p:spPr>
          <a:xfrm>
            <a:off x="1362263" y="1747847"/>
            <a:ext cx="1315616" cy="400110"/>
          </a:xfrm>
          <a:prstGeom prst="rect">
            <a:avLst/>
          </a:prstGeom>
          <a:noFill/>
        </p:spPr>
        <p:txBody>
          <a:bodyPr wrap="square" rtlCol="0">
            <a:spAutoFit/>
          </a:bodyPr>
          <a:lstStyle/>
          <a:p>
            <a:r>
              <a:rPr lang="fr-FR" sz="2000" dirty="0">
                <a:solidFill>
                  <a:srgbClr val="233F60"/>
                </a:solidFill>
              </a:rPr>
              <a:t>Le Constat</a:t>
            </a:r>
          </a:p>
        </p:txBody>
      </p:sp>
      <p:pic>
        <p:nvPicPr>
          <p:cNvPr id="8" name="Image 7"/>
          <p:cNvPicPr>
            <a:picLocks noChangeAspect="1"/>
          </p:cNvPicPr>
          <p:nvPr/>
        </p:nvPicPr>
        <p:blipFill rotWithShape="1">
          <a:blip r:embed="rId4">
            <a:extLst>
              <a:ext uri="{28A0092B-C50C-407E-A947-70E740481C1C}">
                <a14:useLocalDpi xmlns:a14="http://schemas.microsoft.com/office/drawing/2010/main" val="0"/>
              </a:ext>
            </a:extLst>
          </a:blip>
          <a:srcRect l="13270"/>
          <a:stretch/>
        </p:blipFill>
        <p:spPr>
          <a:xfrm>
            <a:off x="391884" y="2971108"/>
            <a:ext cx="3414998" cy="2288251"/>
          </a:xfrm>
          <a:prstGeom prst="rect">
            <a:avLst/>
          </a:prstGeom>
        </p:spPr>
      </p:pic>
      <p:pic>
        <p:nvPicPr>
          <p:cNvPr id="9" name="Image 8"/>
          <p:cNvPicPr>
            <a:picLocks noChangeAspect="1"/>
          </p:cNvPicPr>
          <p:nvPr/>
        </p:nvPicPr>
        <p:blipFill rotWithShape="1">
          <a:blip r:embed="rId5">
            <a:extLst>
              <a:ext uri="{28A0092B-C50C-407E-A947-70E740481C1C}">
                <a14:useLocalDpi xmlns:a14="http://schemas.microsoft.com/office/drawing/2010/main" val="0"/>
              </a:ext>
            </a:extLst>
          </a:blip>
          <a:srcRect l="1967"/>
          <a:stretch/>
        </p:blipFill>
        <p:spPr>
          <a:xfrm>
            <a:off x="757622" y="5685095"/>
            <a:ext cx="2220685" cy="1100025"/>
          </a:xfrm>
          <a:prstGeom prst="rect">
            <a:avLst/>
          </a:prstGeom>
        </p:spPr>
      </p:pic>
      <p:sp>
        <p:nvSpPr>
          <p:cNvPr id="11" name="ZoneTexte 10"/>
          <p:cNvSpPr txBox="1"/>
          <p:nvPr/>
        </p:nvSpPr>
        <p:spPr>
          <a:xfrm>
            <a:off x="264952" y="2147957"/>
            <a:ext cx="3952479" cy="738664"/>
          </a:xfrm>
          <a:prstGeom prst="rect">
            <a:avLst/>
          </a:prstGeom>
          <a:noFill/>
        </p:spPr>
        <p:txBody>
          <a:bodyPr wrap="square" rtlCol="0">
            <a:spAutoFit/>
          </a:bodyPr>
          <a:lstStyle/>
          <a:p>
            <a:r>
              <a:rPr lang="fr-FR" sz="1400" b="1" dirty="0"/>
              <a:t>Les bases de données </a:t>
            </a:r>
            <a:r>
              <a:rPr lang="fr-FR" sz="1400" dirty="0"/>
              <a:t>mondiales (</a:t>
            </a:r>
            <a:r>
              <a:rPr lang="fr-FR" sz="1400" dirty="0" err="1"/>
              <a:t>gnomAD</a:t>
            </a:r>
            <a:r>
              <a:rPr lang="fr-FR" sz="1400" dirty="0"/>
              <a:t>, GWAS) </a:t>
            </a:r>
          </a:p>
          <a:p>
            <a:r>
              <a:rPr lang="fr-FR" sz="1400" dirty="0"/>
              <a:t>comprennent environ 80 % de population d’ascendance européenne.</a:t>
            </a:r>
          </a:p>
        </p:txBody>
      </p:sp>
      <p:sp>
        <p:nvSpPr>
          <p:cNvPr id="12" name="ZoneTexte 11"/>
          <p:cNvSpPr txBox="1"/>
          <p:nvPr/>
        </p:nvSpPr>
        <p:spPr>
          <a:xfrm>
            <a:off x="264951" y="5259359"/>
            <a:ext cx="3952479" cy="738664"/>
          </a:xfrm>
          <a:prstGeom prst="rect">
            <a:avLst/>
          </a:prstGeom>
          <a:noFill/>
        </p:spPr>
        <p:txBody>
          <a:bodyPr wrap="square" rtlCol="0">
            <a:spAutoFit/>
          </a:bodyPr>
          <a:lstStyle/>
          <a:p>
            <a:r>
              <a:rPr lang="fr-FR" sz="1400" b="1" dirty="0"/>
              <a:t>Injustice épistémique </a:t>
            </a:r>
            <a:r>
              <a:rPr lang="fr-FR" sz="1400" dirty="0"/>
              <a:t>: Les outils actuels</a:t>
            </a:r>
          </a:p>
          <a:p>
            <a:r>
              <a:rPr lang="fr-FR" sz="1400" dirty="0"/>
              <a:t>échouent à interpréter la diversité génétique</a:t>
            </a:r>
          </a:p>
          <a:p>
            <a:r>
              <a:rPr lang="fr-FR" sz="1400" dirty="0"/>
              <a:t>Globale.</a:t>
            </a:r>
          </a:p>
        </p:txBody>
      </p:sp>
      <p:pic>
        <p:nvPicPr>
          <p:cNvPr id="13" name="Imag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65308" y="1204780"/>
            <a:ext cx="1009791" cy="885949"/>
          </a:xfrm>
          <a:prstGeom prst="rect">
            <a:avLst/>
          </a:prstGeom>
        </p:spPr>
      </p:pic>
      <p:sp>
        <p:nvSpPr>
          <p:cNvPr id="14" name="ZoneTexte 13"/>
          <p:cNvSpPr txBox="1"/>
          <p:nvPr/>
        </p:nvSpPr>
        <p:spPr>
          <a:xfrm>
            <a:off x="5673831" y="1750565"/>
            <a:ext cx="1338943" cy="400110"/>
          </a:xfrm>
          <a:prstGeom prst="rect">
            <a:avLst/>
          </a:prstGeom>
          <a:noFill/>
        </p:spPr>
        <p:txBody>
          <a:bodyPr wrap="square" rtlCol="0">
            <a:spAutoFit/>
          </a:bodyPr>
          <a:lstStyle/>
          <a:p>
            <a:r>
              <a:rPr lang="fr-FR" sz="2000" dirty="0">
                <a:solidFill>
                  <a:srgbClr val="233F60"/>
                </a:solidFill>
              </a:rPr>
              <a:t>La Réunion</a:t>
            </a:r>
          </a:p>
        </p:txBody>
      </p:sp>
      <p:sp>
        <p:nvSpPr>
          <p:cNvPr id="15" name="ZoneTexte 14"/>
          <p:cNvSpPr txBox="1"/>
          <p:nvPr/>
        </p:nvSpPr>
        <p:spPr>
          <a:xfrm>
            <a:off x="4667594" y="2147957"/>
            <a:ext cx="3952479" cy="738664"/>
          </a:xfrm>
          <a:prstGeom prst="rect">
            <a:avLst/>
          </a:prstGeom>
          <a:noFill/>
        </p:spPr>
        <p:txBody>
          <a:bodyPr wrap="square" rtlCol="0">
            <a:spAutoFit/>
          </a:bodyPr>
          <a:lstStyle/>
          <a:p>
            <a:r>
              <a:rPr lang="fr-FR" sz="1400" b="1" dirty="0"/>
              <a:t>Une double singularité génétique</a:t>
            </a:r>
            <a:r>
              <a:rPr lang="fr-FR" sz="1400" dirty="0"/>
              <a:t>: un métissage</a:t>
            </a:r>
          </a:p>
          <a:p>
            <a:r>
              <a:rPr lang="fr-FR" sz="1400" dirty="0" err="1"/>
              <a:t>multicontinental</a:t>
            </a:r>
            <a:r>
              <a:rPr lang="fr-FR" sz="1400" dirty="0"/>
              <a:t> (Afrique, Europe, Asie) couplé à</a:t>
            </a:r>
          </a:p>
          <a:p>
            <a:r>
              <a:rPr lang="fr-FR" sz="1400" dirty="0"/>
              <a:t>des effets fondateurs forts (isolement insulaire).</a:t>
            </a:r>
          </a:p>
        </p:txBody>
      </p:sp>
      <p:pic>
        <p:nvPicPr>
          <p:cNvPr id="16" name="Image 1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58521" y="2886621"/>
            <a:ext cx="3769562" cy="2354878"/>
          </a:xfrm>
          <a:prstGeom prst="rect">
            <a:avLst/>
          </a:prstGeom>
        </p:spPr>
      </p:pic>
      <p:sp>
        <p:nvSpPr>
          <p:cNvPr id="17" name="ZoneTexte 16"/>
          <p:cNvSpPr txBox="1"/>
          <p:nvPr/>
        </p:nvSpPr>
        <p:spPr>
          <a:xfrm>
            <a:off x="4667593" y="5261242"/>
            <a:ext cx="3952479" cy="523220"/>
          </a:xfrm>
          <a:prstGeom prst="rect">
            <a:avLst/>
          </a:prstGeom>
          <a:noFill/>
        </p:spPr>
        <p:txBody>
          <a:bodyPr wrap="square" rtlCol="0">
            <a:spAutoFit/>
          </a:bodyPr>
          <a:lstStyle/>
          <a:p>
            <a:r>
              <a:rPr lang="fr-FR" sz="1400" b="1" dirty="0"/>
              <a:t>Conséquence </a:t>
            </a:r>
            <a:r>
              <a:rPr lang="fr-FR" sz="1400" dirty="0"/>
              <a:t>: Prévalence élevée de maladies</a:t>
            </a:r>
          </a:p>
          <a:p>
            <a:r>
              <a:rPr lang="fr-FR" sz="1400" dirty="0"/>
              <a:t>rares et risques pharmacologiques accrus.</a:t>
            </a:r>
          </a:p>
        </p:txBody>
      </p:sp>
      <p:pic>
        <p:nvPicPr>
          <p:cNvPr id="18" name="Image 1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04784" y="5824631"/>
            <a:ext cx="2677036" cy="923613"/>
          </a:xfrm>
          <a:prstGeom prst="rect">
            <a:avLst/>
          </a:prstGeom>
        </p:spPr>
      </p:pic>
      <p:pic>
        <p:nvPicPr>
          <p:cNvPr id="19" name="Image 1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775438" y="1224344"/>
            <a:ext cx="1125994" cy="846822"/>
          </a:xfrm>
          <a:prstGeom prst="rect">
            <a:avLst/>
          </a:prstGeom>
        </p:spPr>
      </p:pic>
      <p:sp>
        <p:nvSpPr>
          <p:cNvPr id="20" name="ZoneTexte 19"/>
          <p:cNvSpPr txBox="1"/>
          <p:nvPr/>
        </p:nvSpPr>
        <p:spPr>
          <a:xfrm>
            <a:off x="9926842" y="1747847"/>
            <a:ext cx="1338943" cy="400110"/>
          </a:xfrm>
          <a:prstGeom prst="rect">
            <a:avLst/>
          </a:prstGeom>
          <a:noFill/>
        </p:spPr>
        <p:txBody>
          <a:bodyPr wrap="square" rtlCol="0">
            <a:spAutoFit/>
          </a:bodyPr>
          <a:lstStyle/>
          <a:p>
            <a:r>
              <a:rPr lang="fr-FR" sz="2000" dirty="0">
                <a:solidFill>
                  <a:srgbClr val="233F60"/>
                </a:solidFill>
              </a:rPr>
              <a:t>La Solution</a:t>
            </a:r>
          </a:p>
        </p:txBody>
      </p:sp>
      <p:sp>
        <p:nvSpPr>
          <p:cNvPr id="21" name="ZoneTexte 20"/>
          <p:cNvSpPr txBox="1"/>
          <p:nvPr/>
        </p:nvSpPr>
        <p:spPr>
          <a:xfrm>
            <a:off x="8664288" y="2156779"/>
            <a:ext cx="3527712" cy="738664"/>
          </a:xfrm>
          <a:prstGeom prst="rect">
            <a:avLst/>
          </a:prstGeom>
          <a:noFill/>
        </p:spPr>
        <p:txBody>
          <a:bodyPr wrap="square" rtlCol="0">
            <a:spAutoFit/>
          </a:bodyPr>
          <a:lstStyle/>
          <a:p>
            <a:r>
              <a:rPr lang="fr-FR" sz="1400" dirty="0"/>
              <a:t>Création d’un génome de référence réunionnais via le séquençage de volontaires locaux (EFS).</a:t>
            </a:r>
          </a:p>
        </p:txBody>
      </p:sp>
      <p:cxnSp>
        <p:nvCxnSpPr>
          <p:cNvPr id="23" name="Connecteur droit 22"/>
          <p:cNvCxnSpPr/>
          <p:nvPr/>
        </p:nvCxnSpPr>
        <p:spPr>
          <a:xfrm flipH="1">
            <a:off x="4264085" y="1214562"/>
            <a:ext cx="27997" cy="5381729"/>
          </a:xfrm>
          <a:prstGeom prst="line">
            <a:avLst/>
          </a:prstGeom>
          <a:ln w="28575">
            <a:solidFill>
              <a:srgbClr val="233F60"/>
            </a:solidFill>
          </a:ln>
        </p:spPr>
        <p:style>
          <a:lnRef idx="1">
            <a:schemeClr val="dk1"/>
          </a:lnRef>
          <a:fillRef idx="0">
            <a:schemeClr val="dk1"/>
          </a:fillRef>
          <a:effectRef idx="0">
            <a:schemeClr val="dk1"/>
          </a:effectRef>
          <a:fontRef idx="minor">
            <a:schemeClr val="tx1"/>
          </a:fontRef>
        </p:style>
      </p:cxnSp>
      <p:cxnSp>
        <p:nvCxnSpPr>
          <p:cNvPr id="25" name="Connecteur droit 24"/>
          <p:cNvCxnSpPr/>
          <p:nvPr/>
        </p:nvCxnSpPr>
        <p:spPr>
          <a:xfrm flipH="1">
            <a:off x="8503268" y="1214562"/>
            <a:ext cx="27997" cy="5381729"/>
          </a:xfrm>
          <a:prstGeom prst="line">
            <a:avLst/>
          </a:prstGeom>
          <a:ln w="28575">
            <a:solidFill>
              <a:srgbClr val="233F60"/>
            </a:solidFill>
          </a:ln>
        </p:spPr>
        <p:style>
          <a:lnRef idx="1">
            <a:schemeClr val="dk1"/>
          </a:lnRef>
          <a:fillRef idx="0">
            <a:schemeClr val="dk1"/>
          </a:fillRef>
          <a:effectRef idx="0">
            <a:schemeClr val="dk1"/>
          </a:effectRef>
          <a:fontRef idx="minor">
            <a:schemeClr val="tx1"/>
          </a:fontRef>
        </p:style>
      </p:cxnSp>
      <p:pic>
        <p:nvPicPr>
          <p:cNvPr id="26" name="Image 25"/>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635471" y="2910642"/>
            <a:ext cx="3444376" cy="1587833"/>
          </a:xfrm>
          <a:prstGeom prst="rect">
            <a:avLst/>
          </a:prstGeom>
        </p:spPr>
      </p:pic>
      <p:sp>
        <p:nvSpPr>
          <p:cNvPr id="27" name="ZoneTexte 26"/>
          <p:cNvSpPr txBox="1"/>
          <p:nvPr/>
        </p:nvSpPr>
        <p:spPr>
          <a:xfrm>
            <a:off x="8695118" y="4527721"/>
            <a:ext cx="3399469" cy="738664"/>
          </a:xfrm>
          <a:prstGeom prst="rect">
            <a:avLst/>
          </a:prstGeom>
          <a:noFill/>
        </p:spPr>
        <p:txBody>
          <a:bodyPr wrap="square" rtlCol="0">
            <a:spAutoFit/>
          </a:bodyPr>
          <a:lstStyle/>
          <a:p>
            <a:r>
              <a:rPr lang="fr-FR" sz="1400" b="1" dirty="0"/>
              <a:t>Objectif : </a:t>
            </a:r>
            <a:r>
              <a:rPr lang="fr-FR" sz="1400" dirty="0" err="1"/>
              <a:t>Recalibrer</a:t>
            </a:r>
            <a:r>
              <a:rPr lang="fr-FR" sz="1400" dirty="0"/>
              <a:t> les outils diagnostique,</a:t>
            </a:r>
          </a:p>
          <a:p>
            <a:r>
              <a:rPr lang="fr-FR" sz="1400" dirty="0"/>
              <a:t>sécuriser la prescription médicamenteuse et</a:t>
            </a:r>
          </a:p>
          <a:p>
            <a:r>
              <a:rPr lang="fr-FR" sz="1400" dirty="0"/>
              <a:t>nourrir la recherche mondiale </a:t>
            </a:r>
          </a:p>
        </p:txBody>
      </p:sp>
      <p:pic>
        <p:nvPicPr>
          <p:cNvPr id="28" name="Image 27"/>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806968" y="5259359"/>
            <a:ext cx="3114108" cy="1468190"/>
          </a:xfrm>
          <a:prstGeom prst="rect">
            <a:avLst/>
          </a:prstGeom>
        </p:spPr>
      </p:pic>
      <p:sp>
        <p:nvSpPr>
          <p:cNvPr id="2" name="Espace réservé du numéro de diapositive 1"/>
          <p:cNvSpPr>
            <a:spLocks noGrp="1"/>
          </p:cNvSpPr>
          <p:nvPr>
            <p:ph type="sldNum" sz="quarter" idx="12"/>
          </p:nvPr>
        </p:nvSpPr>
        <p:spPr/>
        <p:txBody>
          <a:bodyPr/>
          <a:lstStyle/>
          <a:p>
            <a:fld id="{B2D9D3F1-7143-479B-A703-8A73FE76077D}" type="slidenum">
              <a:rPr lang="fr-FR" smtClean="0"/>
              <a:t>2</a:t>
            </a:fld>
            <a:endParaRPr lang="fr-FR" dirty="0"/>
          </a:p>
        </p:txBody>
      </p:sp>
    </p:spTree>
    <p:extLst>
      <p:ext uri="{BB962C8B-B14F-4D97-AF65-F5344CB8AC3E}">
        <p14:creationId xmlns:p14="http://schemas.microsoft.com/office/powerpoint/2010/main" val="27122228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F3F6"/>
        </a:solidFill>
        <a:effectLst/>
      </p:bgPr>
    </p:bg>
    <p:spTree>
      <p:nvGrpSpPr>
        <p:cNvPr id="1" name=""/>
        <p:cNvGrpSpPr/>
        <p:nvPr/>
      </p:nvGrpSpPr>
      <p:grpSpPr>
        <a:xfrm>
          <a:off x="0" y="0"/>
          <a:ext cx="0" cy="0"/>
          <a:chOff x="0" y="0"/>
          <a:chExt cx="0" cy="0"/>
        </a:xfrm>
      </p:grpSpPr>
      <p:sp>
        <p:nvSpPr>
          <p:cNvPr id="4" name="ZoneTexte 3"/>
          <p:cNvSpPr txBox="1"/>
          <p:nvPr/>
        </p:nvSpPr>
        <p:spPr>
          <a:xfrm>
            <a:off x="2062065" y="308054"/>
            <a:ext cx="8976049" cy="677108"/>
          </a:xfrm>
          <a:prstGeom prst="rect">
            <a:avLst/>
          </a:prstGeom>
          <a:noFill/>
        </p:spPr>
        <p:txBody>
          <a:bodyPr wrap="square" rtlCol="0">
            <a:spAutoFit/>
          </a:bodyPr>
          <a:lstStyle/>
          <a:p>
            <a:pPr algn="ctr"/>
            <a:r>
              <a:rPr lang="fr-FR" sz="3800" dirty="0">
                <a:solidFill>
                  <a:srgbClr val="233F60"/>
                </a:solidFill>
              </a:rPr>
              <a:t>La médecine de précision a un angle mort</a:t>
            </a: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637" y="900104"/>
            <a:ext cx="6648333" cy="5415638"/>
          </a:xfrm>
          <a:prstGeom prst="rect">
            <a:avLst/>
          </a:prstGeom>
        </p:spPr>
      </p:pic>
      <p:sp>
        <p:nvSpPr>
          <p:cNvPr id="6" name="ZoneTexte 5"/>
          <p:cNvSpPr txBox="1"/>
          <p:nvPr/>
        </p:nvSpPr>
        <p:spPr>
          <a:xfrm>
            <a:off x="6550089" y="1288145"/>
            <a:ext cx="5288560" cy="1631216"/>
          </a:xfrm>
          <a:prstGeom prst="rect">
            <a:avLst/>
          </a:prstGeom>
          <a:noFill/>
        </p:spPr>
        <p:txBody>
          <a:bodyPr wrap="square" rtlCol="0">
            <a:spAutoFit/>
          </a:bodyPr>
          <a:lstStyle/>
          <a:p>
            <a:pPr marL="285750" indent="-285750">
              <a:buFont typeface="Arial" panose="020B0604020202020204" pitchFamily="34" charset="0"/>
              <a:buChar char="•"/>
            </a:pPr>
            <a:r>
              <a:rPr lang="fr-FR" sz="2000" b="1" dirty="0"/>
              <a:t>Biais de représentation </a:t>
            </a:r>
            <a:r>
              <a:rPr lang="fr-FR" sz="2000" dirty="0"/>
              <a:t>: En 2016, 81 %</a:t>
            </a:r>
          </a:p>
          <a:p>
            <a:r>
              <a:rPr lang="fr-FR" sz="2000" dirty="0"/>
              <a:t>      des études pan-génomique GWAS</a:t>
            </a:r>
          </a:p>
          <a:p>
            <a:r>
              <a:rPr lang="fr-FR" sz="2000" dirty="0"/>
              <a:t>      étaient d’origine européenne. En 2022,</a:t>
            </a:r>
          </a:p>
          <a:p>
            <a:r>
              <a:rPr lang="fr-FR" sz="2000" dirty="0"/>
              <a:t>      l’ascendance africaine ne représente </a:t>
            </a:r>
          </a:p>
          <a:p>
            <a:r>
              <a:rPr lang="fr-FR" sz="2000" dirty="0"/>
              <a:t>      que 1,1 % des données.</a:t>
            </a:r>
          </a:p>
        </p:txBody>
      </p:sp>
      <p:sp>
        <p:nvSpPr>
          <p:cNvPr id="7" name="ZoneTexte 6"/>
          <p:cNvSpPr txBox="1"/>
          <p:nvPr/>
        </p:nvSpPr>
        <p:spPr>
          <a:xfrm>
            <a:off x="6550089" y="3332462"/>
            <a:ext cx="5747658" cy="1015663"/>
          </a:xfrm>
          <a:prstGeom prst="rect">
            <a:avLst/>
          </a:prstGeom>
          <a:noFill/>
        </p:spPr>
        <p:txBody>
          <a:bodyPr wrap="square" rtlCol="0">
            <a:spAutoFit/>
          </a:bodyPr>
          <a:lstStyle/>
          <a:p>
            <a:pPr marL="285750" indent="-285750">
              <a:buFont typeface="Arial" panose="020B0604020202020204" pitchFamily="34" charset="0"/>
              <a:buChar char="•"/>
            </a:pPr>
            <a:r>
              <a:rPr lang="fr-FR" sz="2000" b="1" dirty="0"/>
              <a:t>L’échec de l’extrapolation : </a:t>
            </a:r>
            <a:r>
              <a:rPr lang="fr-FR" sz="2000" dirty="0"/>
              <a:t>Les populations </a:t>
            </a:r>
          </a:p>
          <a:p>
            <a:r>
              <a:rPr lang="fr-FR" sz="2000" b="1" dirty="0"/>
              <a:t>     </a:t>
            </a:r>
            <a:r>
              <a:rPr lang="fr-FR" sz="2000" dirty="0"/>
              <a:t>métissées (</a:t>
            </a:r>
            <a:r>
              <a:rPr lang="fr-FR" sz="2000" dirty="0" err="1"/>
              <a:t>admixed</a:t>
            </a:r>
            <a:r>
              <a:rPr lang="fr-FR" sz="2000" dirty="0"/>
              <a:t>) comme celle de La Réunion</a:t>
            </a:r>
          </a:p>
          <a:p>
            <a:r>
              <a:rPr lang="fr-FR" sz="2000" b="1" dirty="0"/>
              <a:t>     </a:t>
            </a:r>
            <a:r>
              <a:rPr lang="fr-FR" sz="2000" dirty="0"/>
              <a:t>sont</a:t>
            </a:r>
            <a:r>
              <a:rPr lang="fr-FR" sz="2000" b="1" dirty="0"/>
              <a:t> </a:t>
            </a:r>
            <a:r>
              <a:rPr lang="fr-FR" sz="2000" dirty="0"/>
              <a:t>absentes des bases de données de référence.   </a:t>
            </a:r>
          </a:p>
        </p:txBody>
      </p:sp>
      <p:sp>
        <p:nvSpPr>
          <p:cNvPr id="8" name="ZoneTexte 7"/>
          <p:cNvSpPr txBox="1"/>
          <p:nvPr/>
        </p:nvSpPr>
        <p:spPr>
          <a:xfrm>
            <a:off x="6560405" y="4761226"/>
            <a:ext cx="5518715" cy="1323439"/>
          </a:xfrm>
          <a:prstGeom prst="rect">
            <a:avLst/>
          </a:prstGeom>
          <a:noFill/>
        </p:spPr>
        <p:txBody>
          <a:bodyPr wrap="square" rtlCol="0">
            <a:spAutoFit/>
          </a:bodyPr>
          <a:lstStyle/>
          <a:p>
            <a:pPr marL="285750" indent="-285750">
              <a:buFont typeface="Arial" panose="020B0604020202020204" pitchFamily="34" charset="0"/>
              <a:buChar char="•"/>
            </a:pPr>
            <a:r>
              <a:rPr lang="fr-FR" sz="2000" b="1" dirty="0"/>
              <a:t>Conséquence technique : </a:t>
            </a:r>
            <a:r>
              <a:rPr lang="fr-FR" sz="2000" dirty="0"/>
              <a:t>Les algorithmes d’imputation et les scores de risque polygénique (PRS) perdent leur fiabilité lorsqu’ils sont appliqués hors des populations européennes.</a:t>
            </a:r>
          </a:p>
        </p:txBody>
      </p:sp>
      <p:sp>
        <p:nvSpPr>
          <p:cNvPr id="9" name="ZoneTexte 8"/>
          <p:cNvSpPr txBox="1"/>
          <p:nvPr/>
        </p:nvSpPr>
        <p:spPr>
          <a:xfrm>
            <a:off x="252941" y="5770171"/>
            <a:ext cx="3275462" cy="954107"/>
          </a:xfrm>
          <a:prstGeom prst="rect">
            <a:avLst/>
          </a:prstGeom>
          <a:noFill/>
        </p:spPr>
        <p:txBody>
          <a:bodyPr wrap="square" rtlCol="0">
            <a:spAutoFit/>
          </a:bodyPr>
          <a:lstStyle/>
          <a:p>
            <a:r>
              <a:rPr lang="fr-FR" sz="1400" dirty="0" err="1"/>
              <a:t>Fatumo</a:t>
            </a:r>
            <a:r>
              <a:rPr lang="fr-FR" sz="1400" dirty="0"/>
              <a:t> S et al 2022 Nat </a:t>
            </a:r>
            <a:r>
              <a:rPr lang="fr-FR" sz="1400" dirty="0" err="1"/>
              <a:t>med</a:t>
            </a:r>
            <a:endParaRPr lang="fr-FR" sz="1400" dirty="0"/>
          </a:p>
          <a:p>
            <a:r>
              <a:rPr lang="fr-FR" sz="1400" dirty="0" err="1"/>
              <a:t>Popejoy</a:t>
            </a:r>
            <a:r>
              <a:rPr lang="fr-FR" sz="1400" dirty="0"/>
              <a:t> AB et al 2016 Nature</a:t>
            </a:r>
          </a:p>
          <a:p>
            <a:r>
              <a:rPr lang="fr-FR" sz="1400" dirty="0"/>
              <a:t>Petrovski S et al  2016 </a:t>
            </a:r>
            <a:r>
              <a:rPr lang="fr-FR" sz="1400" dirty="0" err="1"/>
              <a:t>Genome</a:t>
            </a:r>
            <a:r>
              <a:rPr lang="fr-FR" sz="1400" dirty="0"/>
              <a:t> </a:t>
            </a:r>
            <a:r>
              <a:rPr lang="fr-FR" sz="1400" dirty="0" err="1"/>
              <a:t>Biol</a:t>
            </a:r>
            <a:endParaRPr lang="fr-FR" sz="1400" dirty="0"/>
          </a:p>
          <a:p>
            <a:r>
              <a:rPr lang="fr-FR" sz="1400" dirty="0"/>
              <a:t>Martin AR et al 2019 Nat </a:t>
            </a:r>
            <a:r>
              <a:rPr lang="fr-FR" sz="1400" dirty="0" err="1"/>
              <a:t>genetic</a:t>
            </a:r>
            <a:endParaRPr lang="fr-FR" sz="1400" dirty="0"/>
          </a:p>
        </p:txBody>
      </p:sp>
      <p:sp>
        <p:nvSpPr>
          <p:cNvPr id="2" name="Espace réservé du numéro de diapositive 1"/>
          <p:cNvSpPr>
            <a:spLocks noGrp="1"/>
          </p:cNvSpPr>
          <p:nvPr>
            <p:ph type="sldNum" sz="quarter" idx="12"/>
          </p:nvPr>
        </p:nvSpPr>
        <p:spPr/>
        <p:txBody>
          <a:bodyPr/>
          <a:lstStyle/>
          <a:p>
            <a:fld id="{B2D9D3F1-7143-479B-A703-8A73FE76077D}" type="slidenum">
              <a:rPr lang="fr-FR" smtClean="0"/>
              <a:t>3</a:t>
            </a:fld>
            <a:endParaRPr lang="fr-FR" dirty="0"/>
          </a:p>
        </p:txBody>
      </p:sp>
    </p:spTree>
    <p:extLst>
      <p:ext uri="{BB962C8B-B14F-4D97-AF65-F5344CB8AC3E}">
        <p14:creationId xmlns:p14="http://schemas.microsoft.com/office/powerpoint/2010/main" val="10653238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F3F6"/>
        </a:solidFill>
        <a:effectLst/>
      </p:bgPr>
    </p:bg>
    <p:spTree>
      <p:nvGrpSpPr>
        <p:cNvPr id="1" name=""/>
        <p:cNvGrpSpPr/>
        <p:nvPr/>
      </p:nvGrpSpPr>
      <p:grpSpPr>
        <a:xfrm>
          <a:off x="0" y="0"/>
          <a:ext cx="0" cy="0"/>
          <a:chOff x="0" y="0"/>
          <a:chExt cx="0" cy="0"/>
        </a:xfrm>
      </p:grpSpPr>
      <p:sp>
        <p:nvSpPr>
          <p:cNvPr id="4" name="ZoneTexte 3"/>
          <p:cNvSpPr txBox="1"/>
          <p:nvPr/>
        </p:nvSpPr>
        <p:spPr>
          <a:xfrm>
            <a:off x="1240972" y="336046"/>
            <a:ext cx="9909110" cy="677108"/>
          </a:xfrm>
          <a:prstGeom prst="rect">
            <a:avLst/>
          </a:prstGeom>
          <a:noFill/>
        </p:spPr>
        <p:txBody>
          <a:bodyPr wrap="square" rtlCol="0">
            <a:spAutoFit/>
          </a:bodyPr>
          <a:lstStyle/>
          <a:p>
            <a:pPr algn="ctr"/>
            <a:r>
              <a:rPr lang="fr-FR" sz="3800" dirty="0">
                <a:solidFill>
                  <a:srgbClr val="233F60"/>
                </a:solidFill>
              </a:rPr>
              <a:t>La Réunion : Un laboratoire d’histoire humaine</a:t>
            </a:r>
          </a:p>
        </p:txBody>
      </p:sp>
      <p:pic>
        <p:nvPicPr>
          <p:cNvPr id="5" name="Image 4"/>
          <p:cNvPicPr>
            <a:picLocks noChangeAspect="1"/>
          </p:cNvPicPr>
          <p:nvPr/>
        </p:nvPicPr>
        <p:blipFill rotWithShape="1">
          <a:blip r:embed="rId3">
            <a:extLst>
              <a:ext uri="{28A0092B-C50C-407E-A947-70E740481C1C}">
                <a14:useLocalDpi xmlns:a14="http://schemas.microsoft.com/office/drawing/2010/main" val="0"/>
              </a:ext>
            </a:extLst>
          </a:blip>
          <a:srcRect r="1392"/>
          <a:stretch/>
        </p:blipFill>
        <p:spPr>
          <a:xfrm>
            <a:off x="1048215" y="916658"/>
            <a:ext cx="10848942" cy="3405992"/>
          </a:xfrm>
          <a:prstGeom prst="rect">
            <a:avLst/>
          </a:prstGeom>
        </p:spPr>
      </p:pic>
      <p:sp>
        <p:nvSpPr>
          <p:cNvPr id="6" name="ZoneTexte 5"/>
          <p:cNvSpPr txBox="1"/>
          <p:nvPr/>
        </p:nvSpPr>
        <p:spPr>
          <a:xfrm>
            <a:off x="1399535" y="4533930"/>
            <a:ext cx="9984666" cy="369332"/>
          </a:xfrm>
          <a:prstGeom prst="rect">
            <a:avLst/>
          </a:prstGeom>
          <a:noFill/>
        </p:spPr>
        <p:txBody>
          <a:bodyPr wrap="square" rtlCol="0">
            <a:spAutoFit/>
          </a:bodyPr>
          <a:lstStyle/>
          <a:p>
            <a:r>
              <a:rPr lang="fr-FR" i="1" dirty="0"/>
              <a:t>« La Réunion est un monde recomposé où se mêle les fragments d’identités transplantées. » - </a:t>
            </a:r>
            <a:r>
              <a:rPr lang="fr-FR" dirty="0"/>
              <a:t>Prosper Eve</a:t>
            </a:r>
          </a:p>
        </p:txBody>
      </p:sp>
      <p:sp>
        <p:nvSpPr>
          <p:cNvPr id="7" name="ZoneTexte 6"/>
          <p:cNvSpPr txBox="1"/>
          <p:nvPr/>
        </p:nvSpPr>
        <p:spPr>
          <a:xfrm>
            <a:off x="468352" y="5553307"/>
            <a:ext cx="5397190" cy="646331"/>
          </a:xfrm>
          <a:prstGeom prst="rect">
            <a:avLst/>
          </a:prstGeom>
          <a:noFill/>
        </p:spPr>
        <p:txBody>
          <a:bodyPr wrap="square" rtlCol="0">
            <a:spAutoFit/>
          </a:bodyPr>
          <a:lstStyle/>
          <a:p>
            <a:r>
              <a:rPr lang="fr-FR" b="1" dirty="0"/>
              <a:t>Un peuplement sans autochtone </a:t>
            </a:r>
            <a:r>
              <a:rPr lang="fr-FR" dirty="0"/>
              <a:t>: Une recomposition génétique intégrale sur un territoire vierge.</a:t>
            </a:r>
          </a:p>
        </p:txBody>
      </p:sp>
      <p:sp>
        <p:nvSpPr>
          <p:cNvPr id="8" name="ZoneTexte 7"/>
          <p:cNvSpPr txBox="1"/>
          <p:nvPr/>
        </p:nvSpPr>
        <p:spPr>
          <a:xfrm>
            <a:off x="6073698" y="5553306"/>
            <a:ext cx="5701990" cy="923330"/>
          </a:xfrm>
          <a:prstGeom prst="rect">
            <a:avLst/>
          </a:prstGeom>
          <a:noFill/>
        </p:spPr>
        <p:txBody>
          <a:bodyPr wrap="square" rtlCol="0">
            <a:spAutoFit/>
          </a:bodyPr>
          <a:lstStyle/>
          <a:p>
            <a:r>
              <a:rPr lang="fr-FR" b="1" dirty="0"/>
              <a:t>Créolisation biologique </a:t>
            </a:r>
            <a:r>
              <a:rPr lang="fr-FR" dirty="0"/>
              <a:t>: Le métissage n’est pas seulement culturel, il est inscrit dans l’ADN. Les flux migratoires ont créé des combinaisons génétiques uniques au monde.</a:t>
            </a:r>
          </a:p>
        </p:txBody>
      </p:sp>
      <p:sp>
        <p:nvSpPr>
          <p:cNvPr id="9" name="ZoneTexte 8"/>
          <p:cNvSpPr txBox="1"/>
          <p:nvPr/>
        </p:nvSpPr>
        <p:spPr>
          <a:xfrm>
            <a:off x="1602735" y="4903262"/>
            <a:ext cx="5120906" cy="307777"/>
          </a:xfrm>
          <a:prstGeom prst="rect">
            <a:avLst/>
          </a:prstGeom>
          <a:noFill/>
        </p:spPr>
        <p:txBody>
          <a:bodyPr wrap="square" rtlCol="0">
            <a:spAutoFit/>
          </a:bodyPr>
          <a:lstStyle/>
          <a:p>
            <a:r>
              <a:rPr lang="fr-FR" sz="1400" dirty="0"/>
              <a:t>Ève, P. (2003). </a:t>
            </a:r>
            <a:r>
              <a:rPr lang="fr-FR" sz="1400" i="1" dirty="0"/>
              <a:t>Esclavage, métissage, liberté : La Réunion, 1794–1848</a:t>
            </a:r>
            <a:endParaRPr lang="fr-FR" sz="1400" dirty="0"/>
          </a:p>
        </p:txBody>
      </p:sp>
      <p:sp>
        <p:nvSpPr>
          <p:cNvPr id="2" name="Espace réservé du numéro de diapositive 1"/>
          <p:cNvSpPr>
            <a:spLocks noGrp="1"/>
          </p:cNvSpPr>
          <p:nvPr>
            <p:ph type="sldNum" sz="quarter" idx="12"/>
          </p:nvPr>
        </p:nvSpPr>
        <p:spPr/>
        <p:txBody>
          <a:bodyPr/>
          <a:lstStyle/>
          <a:p>
            <a:fld id="{B2D9D3F1-7143-479B-A703-8A73FE76077D}" type="slidenum">
              <a:rPr lang="fr-FR" smtClean="0"/>
              <a:t>4</a:t>
            </a:fld>
            <a:endParaRPr lang="fr-FR" dirty="0"/>
          </a:p>
        </p:txBody>
      </p:sp>
    </p:spTree>
    <p:extLst>
      <p:ext uri="{BB962C8B-B14F-4D97-AF65-F5344CB8AC3E}">
        <p14:creationId xmlns:p14="http://schemas.microsoft.com/office/powerpoint/2010/main" val="36345355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F3F6"/>
        </a:solidFill>
        <a:effectLst/>
      </p:bgPr>
    </p:bg>
    <p:spTree>
      <p:nvGrpSpPr>
        <p:cNvPr id="1" name=""/>
        <p:cNvGrpSpPr/>
        <p:nvPr/>
      </p:nvGrpSpPr>
      <p:grpSpPr>
        <a:xfrm>
          <a:off x="0" y="0"/>
          <a:ext cx="0" cy="0"/>
          <a:chOff x="0" y="0"/>
          <a:chExt cx="0" cy="0"/>
        </a:xfrm>
      </p:grpSpPr>
      <p:sp>
        <p:nvSpPr>
          <p:cNvPr id="4" name="ZoneTexte 3"/>
          <p:cNvSpPr txBox="1"/>
          <p:nvPr/>
        </p:nvSpPr>
        <p:spPr>
          <a:xfrm>
            <a:off x="-781496" y="247076"/>
            <a:ext cx="8976049" cy="677108"/>
          </a:xfrm>
          <a:prstGeom prst="rect">
            <a:avLst/>
          </a:prstGeom>
          <a:noFill/>
        </p:spPr>
        <p:txBody>
          <a:bodyPr wrap="square" rtlCol="0">
            <a:spAutoFit/>
          </a:bodyPr>
          <a:lstStyle/>
          <a:p>
            <a:pPr algn="ctr"/>
            <a:r>
              <a:rPr lang="fr-FR" sz="3800" b="1" dirty="0">
                <a:solidFill>
                  <a:srgbClr val="233F60"/>
                </a:solidFill>
              </a:rPr>
              <a:t>La Double Singularité Génétique</a:t>
            </a:r>
          </a:p>
        </p:txBody>
      </p:sp>
      <p:sp>
        <p:nvSpPr>
          <p:cNvPr id="5" name="ZoneTexte 4"/>
          <p:cNvSpPr txBox="1"/>
          <p:nvPr/>
        </p:nvSpPr>
        <p:spPr>
          <a:xfrm>
            <a:off x="1483113" y="1087660"/>
            <a:ext cx="3646449" cy="461665"/>
          </a:xfrm>
          <a:prstGeom prst="rect">
            <a:avLst/>
          </a:prstGeom>
          <a:noFill/>
        </p:spPr>
        <p:txBody>
          <a:bodyPr wrap="square" rtlCol="0">
            <a:spAutoFit/>
          </a:bodyPr>
          <a:lstStyle/>
          <a:p>
            <a:r>
              <a:rPr lang="fr-FR" sz="2400" b="1" dirty="0">
                <a:solidFill>
                  <a:srgbClr val="233F60"/>
                </a:solidFill>
              </a:rPr>
              <a:t>L’ </a:t>
            </a:r>
            <a:r>
              <a:rPr lang="fr-FR" sz="2400" b="1" dirty="0" err="1">
                <a:solidFill>
                  <a:srgbClr val="233F60"/>
                </a:solidFill>
              </a:rPr>
              <a:t>Admixture</a:t>
            </a:r>
            <a:r>
              <a:rPr lang="fr-FR" sz="2400" b="1" dirty="0">
                <a:solidFill>
                  <a:srgbClr val="233F60"/>
                </a:solidFill>
              </a:rPr>
              <a:t> (métissage)</a:t>
            </a:r>
          </a:p>
        </p:txBody>
      </p:sp>
      <p:sp>
        <p:nvSpPr>
          <p:cNvPr id="6" name="ZoneTexte 5"/>
          <p:cNvSpPr txBox="1"/>
          <p:nvPr/>
        </p:nvSpPr>
        <p:spPr>
          <a:xfrm>
            <a:off x="7724079" y="1087659"/>
            <a:ext cx="3646449" cy="461665"/>
          </a:xfrm>
          <a:prstGeom prst="rect">
            <a:avLst/>
          </a:prstGeom>
          <a:noFill/>
        </p:spPr>
        <p:txBody>
          <a:bodyPr wrap="square" rtlCol="0">
            <a:spAutoFit/>
          </a:bodyPr>
          <a:lstStyle/>
          <a:p>
            <a:r>
              <a:rPr lang="fr-FR" sz="2400" b="1" dirty="0">
                <a:solidFill>
                  <a:srgbClr val="233F60"/>
                </a:solidFill>
              </a:rPr>
              <a:t>L’Effet Fondateur</a:t>
            </a:r>
          </a:p>
        </p:txBody>
      </p:sp>
      <p:pic>
        <p:nvPicPr>
          <p:cNvPr id="8" name="Imag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6521" y="1433736"/>
            <a:ext cx="3736562" cy="3736562"/>
          </a:xfrm>
          <a:prstGeom prst="rect">
            <a:avLst/>
          </a:prstGeom>
        </p:spPr>
      </p:pic>
      <p:pic>
        <p:nvPicPr>
          <p:cNvPr id="10" name="Imag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94397" y="1569459"/>
            <a:ext cx="3465116" cy="3465116"/>
          </a:xfrm>
          <a:prstGeom prst="rect">
            <a:avLst/>
          </a:prstGeom>
        </p:spPr>
      </p:pic>
      <p:sp>
        <p:nvSpPr>
          <p:cNvPr id="11" name="ZoneTexte 10"/>
          <p:cNvSpPr txBox="1"/>
          <p:nvPr/>
        </p:nvSpPr>
        <p:spPr>
          <a:xfrm>
            <a:off x="1086617" y="5034575"/>
            <a:ext cx="3786466" cy="646331"/>
          </a:xfrm>
          <a:prstGeom prst="rect">
            <a:avLst/>
          </a:prstGeom>
          <a:noFill/>
        </p:spPr>
        <p:txBody>
          <a:bodyPr wrap="square" rtlCol="0">
            <a:spAutoFit/>
          </a:bodyPr>
          <a:lstStyle/>
          <a:p>
            <a:pPr algn="ctr"/>
            <a:r>
              <a:rPr lang="fr-FR" dirty="0"/>
              <a:t>Une diversité allélique riche, complexe à analyser sans référentiel local</a:t>
            </a:r>
          </a:p>
        </p:txBody>
      </p:sp>
      <p:sp>
        <p:nvSpPr>
          <p:cNvPr id="12" name="ZoneTexte 11"/>
          <p:cNvSpPr txBox="1"/>
          <p:nvPr/>
        </p:nvSpPr>
        <p:spPr>
          <a:xfrm>
            <a:off x="6758552" y="5034574"/>
            <a:ext cx="4611976" cy="646331"/>
          </a:xfrm>
          <a:prstGeom prst="rect">
            <a:avLst/>
          </a:prstGeom>
          <a:noFill/>
        </p:spPr>
        <p:txBody>
          <a:bodyPr wrap="square" rtlCol="0">
            <a:spAutoFit/>
          </a:bodyPr>
          <a:lstStyle/>
          <a:p>
            <a:pPr algn="ctr"/>
            <a:r>
              <a:rPr lang="fr-FR" dirty="0"/>
              <a:t>L’isolement insulaire et la taille réduite des groupes fondateurs ont fixé des variants rares</a:t>
            </a:r>
          </a:p>
        </p:txBody>
      </p:sp>
      <p:cxnSp>
        <p:nvCxnSpPr>
          <p:cNvPr id="14" name="Connecteur droit 13"/>
          <p:cNvCxnSpPr/>
          <p:nvPr/>
        </p:nvCxnSpPr>
        <p:spPr>
          <a:xfrm>
            <a:off x="0" y="5782077"/>
            <a:ext cx="12192000" cy="0"/>
          </a:xfrm>
          <a:prstGeom prst="line">
            <a:avLst/>
          </a:prstGeom>
          <a:ln>
            <a:solidFill>
              <a:srgbClr val="BBC5CF"/>
            </a:solidFill>
          </a:ln>
        </p:spPr>
        <p:style>
          <a:lnRef idx="1">
            <a:schemeClr val="accent3"/>
          </a:lnRef>
          <a:fillRef idx="0">
            <a:schemeClr val="accent3"/>
          </a:fillRef>
          <a:effectRef idx="0">
            <a:schemeClr val="accent3"/>
          </a:effectRef>
          <a:fontRef idx="minor">
            <a:schemeClr val="tx1"/>
          </a:fontRef>
        </p:style>
      </p:cxnSp>
      <p:sp>
        <p:nvSpPr>
          <p:cNvPr id="15" name="ZoneTexte 14"/>
          <p:cNvSpPr txBox="1"/>
          <p:nvPr/>
        </p:nvSpPr>
        <p:spPr>
          <a:xfrm>
            <a:off x="251608" y="5831019"/>
            <a:ext cx="2831179" cy="369332"/>
          </a:xfrm>
          <a:prstGeom prst="rect">
            <a:avLst/>
          </a:prstGeom>
          <a:noFill/>
        </p:spPr>
        <p:txBody>
          <a:bodyPr wrap="square" rtlCol="0">
            <a:spAutoFit/>
          </a:bodyPr>
          <a:lstStyle/>
          <a:p>
            <a:pPr algn="ctr"/>
            <a:r>
              <a:rPr lang="fr-FR" b="1" dirty="0"/>
              <a:t>Exemples :</a:t>
            </a:r>
          </a:p>
        </p:txBody>
      </p:sp>
      <p:sp>
        <p:nvSpPr>
          <p:cNvPr id="17" name="ZoneTexte 16"/>
          <p:cNvSpPr txBox="1"/>
          <p:nvPr/>
        </p:nvSpPr>
        <p:spPr>
          <a:xfrm>
            <a:off x="3172624" y="5831019"/>
            <a:ext cx="8564136" cy="923330"/>
          </a:xfrm>
          <a:prstGeom prst="rect">
            <a:avLst/>
          </a:prstGeom>
          <a:noFill/>
        </p:spPr>
        <p:txBody>
          <a:bodyPr wrap="square" rtlCol="0">
            <a:spAutoFit/>
          </a:bodyPr>
          <a:lstStyle/>
          <a:p>
            <a:pPr marL="285750" indent="-285750">
              <a:buFont typeface="Arial" panose="020B0604020202020204" pitchFamily="34" charset="0"/>
              <a:buChar char="•"/>
            </a:pPr>
            <a:r>
              <a:rPr lang="fr-FR" b="1" dirty="0"/>
              <a:t>Syndrome Larsen-Bourbon </a:t>
            </a:r>
            <a:r>
              <a:rPr lang="fr-FR" dirty="0"/>
              <a:t>(mutation </a:t>
            </a:r>
            <a:r>
              <a:rPr lang="fr-FR" i="1" dirty="0"/>
              <a:t>B4GALT7</a:t>
            </a:r>
            <a:r>
              <a:rPr lang="fr-FR" dirty="0"/>
              <a:t>) : Spécifique à l’île.</a:t>
            </a:r>
          </a:p>
          <a:p>
            <a:pPr marL="285750" indent="-285750">
              <a:buFont typeface="Arial" panose="020B0604020202020204" pitchFamily="34" charset="0"/>
              <a:buChar char="•"/>
            </a:pPr>
            <a:r>
              <a:rPr lang="fr-FR" b="1" dirty="0"/>
              <a:t>Syndrome de Ravine</a:t>
            </a:r>
            <a:r>
              <a:rPr lang="fr-FR" dirty="0"/>
              <a:t>: Mutation sur un élément transposable, unique aux descendants réunionnais.</a:t>
            </a:r>
          </a:p>
        </p:txBody>
      </p:sp>
      <p:sp>
        <p:nvSpPr>
          <p:cNvPr id="18" name="ZoneTexte 17"/>
          <p:cNvSpPr txBox="1"/>
          <p:nvPr/>
        </p:nvSpPr>
        <p:spPr>
          <a:xfrm>
            <a:off x="-452639" y="6407218"/>
            <a:ext cx="2831179" cy="307777"/>
          </a:xfrm>
          <a:prstGeom prst="rect">
            <a:avLst/>
          </a:prstGeom>
          <a:noFill/>
        </p:spPr>
        <p:txBody>
          <a:bodyPr wrap="square" rtlCol="0">
            <a:spAutoFit/>
          </a:bodyPr>
          <a:lstStyle/>
          <a:p>
            <a:pPr algn="ctr"/>
            <a:r>
              <a:rPr lang="fr-FR" sz="1400" i="1" dirty="0" err="1"/>
              <a:t>Cartault</a:t>
            </a:r>
            <a:r>
              <a:rPr lang="fr-FR" sz="1400" i="1" dirty="0"/>
              <a:t>, Munier et al.</a:t>
            </a:r>
          </a:p>
        </p:txBody>
      </p:sp>
      <p:sp>
        <p:nvSpPr>
          <p:cNvPr id="2" name="Espace réservé du numéro de diapositive 1"/>
          <p:cNvSpPr>
            <a:spLocks noGrp="1"/>
          </p:cNvSpPr>
          <p:nvPr>
            <p:ph type="sldNum" sz="quarter" idx="12"/>
          </p:nvPr>
        </p:nvSpPr>
        <p:spPr/>
        <p:txBody>
          <a:bodyPr/>
          <a:lstStyle/>
          <a:p>
            <a:fld id="{B2D9D3F1-7143-479B-A703-8A73FE76077D}" type="slidenum">
              <a:rPr lang="fr-FR" smtClean="0"/>
              <a:t>5</a:t>
            </a:fld>
            <a:endParaRPr lang="fr-FR" dirty="0"/>
          </a:p>
        </p:txBody>
      </p:sp>
    </p:spTree>
    <p:extLst>
      <p:ext uri="{BB962C8B-B14F-4D97-AF65-F5344CB8AC3E}">
        <p14:creationId xmlns:p14="http://schemas.microsoft.com/office/powerpoint/2010/main" val="31816190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F3F6"/>
        </a:solidFill>
        <a:effectLst/>
      </p:bgPr>
    </p:bg>
    <p:spTree>
      <p:nvGrpSpPr>
        <p:cNvPr id="1" name=""/>
        <p:cNvGrpSpPr/>
        <p:nvPr/>
      </p:nvGrpSpPr>
      <p:grpSpPr>
        <a:xfrm>
          <a:off x="0" y="0"/>
          <a:ext cx="0" cy="0"/>
          <a:chOff x="0" y="0"/>
          <a:chExt cx="0" cy="0"/>
        </a:xfrm>
      </p:grpSpPr>
      <p:sp>
        <p:nvSpPr>
          <p:cNvPr id="4" name="ZoneTexte 3"/>
          <p:cNvSpPr txBox="1"/>
          <p:nvPr/>
        </p:nvSpPr>
        <p:spPr>
          <a:xfrm>
            <a:off x="-235086" y="280529"/>
            <a:ext cx="11731994" cy="677108"/>
          </a:xfrm>
          <a:prstGeom prst="rect">
            <a:avLst/>
          </a:prstGeom>
          <a:noFill/>
        </p:spPr>
        <p:txBody>
          <a:bodyPr wrap="square" rtlCol="0">
            <a:spAutoFit/>
          </a:bodyPr>
          <a:lstStyle/>
          <a:p>
            <a:pPr algn="ctr"/>
            <a:r>
              <a:rPr lang="fr-FR" sz="3800" b="1" dirty="0">
                <a:solidFill>
                  <a:srgbClr val="233F60"/>
                </a:solidFill>
              </a:rPr>
              <a:t>Le risque diagnostique : Faux positif et incertitudes</a:t>
            </a: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520" y="1112372"/>
            <a:ext cx="7204554" cy="5521333"/>
          </a:xfrm>
          <a:prstGeom prst="rect">
            <a:avLst/>
          </a:prstGeom>
        </p:spPr>
      </p:pic>
      <p:sp>
        <p:nvSpPr>
          <p:cNvPr id="6" name="ZoneTexte 5"/>
          <p:cNvSpPr txBox="1"/>
          <p:nvPr/>
        </p:nvSpPr>
        <p:spPr>
          <a:xfrm>
            <a:off x="7527074" y="1189781"/>
            <a:ext cx="3691054" cy="461665"/>
          </a:xfrm>
          <a:prstGeom prst="rect">
            <a:avLst/>
          </a:prstGeom>
          <a:noFill/>
        </p:spPr>
        <p:txBody>
          <a:bodyPr wrap="square" rtlCol="0">
            <a:spAutoFit/>
          </a:bodyPr>
          <a:lstStyle/>
          <a:p>
            <a:r>
              <a:rPr lang="fr-FR" sz="2400" b="1" dirty="0">
                <a:solidFill>
                  <a:srgbClr val="233F60"/>
                </a:solidFill>
              </a:rPr>
              <a:t>L’impasse des VUS :</a:t>
            </a:r>
          </a:p>
        </p:txBody>
      </p:sp>
      <p:sp>
        <p:nvSpPr>
          <p:cNvPr id="7" name="ZoneTexte 6"/>
          <p:cNvSpPr txBox="1"/>
          <p:nvPr/>
        </p:nvSpPr>
        <p:spPr>
          <a:xfrm>
            <a:off x="7527074" y="1651446"/>
            <a:ext cx="3969834" cy="1200329"/>
          </a:xfrm>
          <a:prstGeom prst="rect">
            <a:avLst/>
          </a:prstGeom>
          <a:noFill/>
        </p:spPr>
        <p:txBody>
          <a:bodyPr wrap="square" rtlCol="0">
            <a:spAutoFit/>
          </a:bodyPr>
          <a:lstStyle/>
          <a:p>
            <a:r>
              <a:rPr lang="fr-FR" dirty="0"/>
              <a:t>Faute de comparaison locale,  les variants séquencés à La Réunion sont plus facilement classés comme « incertains », bloquant le diagnostic.</a:t>
            </a:r>
          </a:p>
        </p:txBody>
      </p:sp>
      <p:sp>
        <p:nvSpPr>
          <p:cNvPr id="8" name="ZoneTexte 7"/>
          <p:cNvSpPr txBox="1"/>
          <p:nvPr/>
        </p:nvSpPr>
        <p:spPr>
          <a:xfrm>
            <a:off x="7527074" y="2800574"/>
            <a:ext cx="3969834" cy="461665"/>
          </a:xfrm>
          <a:prstGeom prst="rect">
            <a:avLst/>
          </a:prstGeom>
          <a:noFill/>
        </p:spPr>
        <p:txBody>
          <a:bodyPr wrap="square" rtlCol="0">
            <a:spAutoFit/>
          </a:bodyPr>
          <a:lstStyle/>
          <a:p>
            <a:r>
              <a:rPr lang="fr-FR" sz="2400" b="1" dirty="0">
                <a:solidFill>
                  <a:srgbClr val="233F60"/>
                </a:solidFill>
              </a:rPr>
              <a:t>Le danger des faux positif :</a:t>
            </a:r>
          </a:p>
        </p:txBody>
      </p:sp>
      <p:sp>
        <p:nvSpPr>
          <p:cNvPr id="9" name="ZoneTexte 8"/>
          <p:cNvSpPr txBox="1"/>
          <p:nvPr/>
        </p:nvSpPr>
        <p:spPr>
          <a:xfrm>
            <a:off x="7527074" y="3337179"/>
            <a:ext cx="3969834" cy="1477328"/>
          </a:xfrm>
          <a:prstGeom prst="rect">
            <a:avLst/>
          </a:prstGeom>
          <a:noFill/>
        </p:spPr>
        <p:txBody>
          <a:bodyPr wrap="square" rtlCol="0">
            <a:spAutoFit/>
          </a:bodyPr>
          <a:lstStyle/>
          <a:p>
            <a:r>
              <a:rPr lang="fr-FR" dirty="0"/>
              <a:t>Exemple de la cardiomyopathie hypertrophique (</a:t>
            </a:r>
            <a:r>
              <a:rPr lang="fr-FR" dirty="0" err="1"/>
              <a:t>Manrai</a:t>
            </a:r>
            <a:r>
              <a:rPr lang="fr-FR" dirty="0"/>
              <a:t> &amp; al.) : des patients afro-descendants diagnostiqués à tort à cause de base de données euro-centrées</a:t>
            </a:r>
          </a:p>
        </p:txBody>
      </p:sp>
      <p:sp>
        <p:nvSpPr>
          <p:cNvPr id="10" name="ZoneTexte 9"/>
          <p:cNvSpPr txBox="1"/>
          <p:nvPr/>
        </p:nvSpPr>
        <p:spPr>
          <a:xfrm>
            <a:off x="7527074" y="4889447"/>
            <a:ext cx="3969834" cy="461665"/>
          </a:xfrm>
          <a:prstGeom prst="rect">
            <a:avLst/>
          </a:prstGeom>
          <a:noFill/>
        </p:spPr>
        <p:txBody>
          <a:bodyPr wrap="square" rtlCol="0">
            <a:spAutoFit/>
          </a:bodyPr>
          <a:lstStyle/>
          <a:p>
            <a:r>
              <a:rPr lang="fr-FR" sz="2400" b="1" dirty="0">
                <a:solidFill>
                  <a:srgbClr val="233F60"/>
                </a:solidFill>
              </a:rPr>
              <a:t>Perte de chance :</a:t>
            </a:r>
          </a:p>
        </p:txBody>
      </p:sp>
      <p:sp>
        <p:nvSpPr>
          <p:cNvPr id="11" name="ZoneTexte 10"/>
          <p:cNvSpPr txBox="1"/>
          <p:nvPr/>
        </p:nvSpPr>
        <p:spPr>
          <a:xfrm>
            <a:off x="7527074" y="5426052"/>
            <a:ext cx="3969834" cy="923330"/>
          </a:xfrm>
          <a:prstGeom prst="rect">
            <a:avLst/>
          </a:prstGeom>
          <a:noFill/>
        </p:spPr>
        <p:txBody>
          <a:bodyPr wrap="square" rtlCol="0">
            <a:spAutoFit/>
          </a:bodyPr>
          <a:lstStyle/>
          <a:p>
            <a:r>
              <a:rPr lang="fr-FR" dirty="0"/>
              <a:t>Errance diagnostique accrue, anxiété familiale et coûts inutiles pour le système de santé.</a:t>
            </a:r>
          </a:p>
        </p:txBody>
      </p:sp>
      <p:sp>
        <p:nvSpPr>
          <p:cNvPr id="2" name="Espace réservé du numéro de diapositive 1"/>
          <p:cNvSpPr>
            <a:spLocks noGrp="1"/>
          </p:cNvSpPr>
          <p:nvPr>
            <p:ph type="sldNum" sz="quarter" idx="12"/>
          </p:nvPr>
        </p:nvSpPr>
        <p:spPr/>
        <p:txBody>
          <a:bodyPr/>
          <a:lstStyle/>
          <a:p>
            <a:fld id="{B2D9D3F1-7143-479B-A703-8A73FE76077D}" type="slidenum">
              <a:rPr lang="fr-FR" smtClean="0"/>
              <a:t>6</a:t>
            </a:fld>
            <a:endParaRPr lang="fr-FR" dirty="0"/>
          </a:p>
        </p:txBody>
      </p:sp>
    </p:spTree>
    <p:extLst>
      <p:ext uri="{BB962C8B-B14F-4D97-AF65-F5344CB8AC3E}">
        <p14:creationId xmlns:p14="http://schemas.microsoft.com/office/powerpoint/2010/main" val="19549894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F3F6"/>
        </a:solidFill>
        <a:effectLst/>
      </p:bgPr>
    </p:bg>
    <p:spTree>
      <p:nvGrpSpPr>
        <p:cNvPr id="1" name=""/>
        <p:cNvGrpSpPr/>
        <p:nvPr/>
      </p:nvGrpSpPr>
      <p:grpSpPr>
        <a:xfrm>
          <a:off x="0" y="0"/>
          <a:ext cx="0" cy="0"/>
          <a:chOff x="0" y="0"/>
          <a:chExt cx="0" cy="0"/>
        </a:xfrm>
      </p:grpSpPr>
      <p:sp>
        <p:nvSpPr>
          <p:cNvPr id="4" name="ZoneTexte 3"/>
          <p:cNvSpPr txBox="1"/>
          <p:nvPr/>
        </p:nvSpPr>
        <p:spPr>
          <a:xfrm>
            <a:off x="545500" y="325135"/>
            <a:ext cx="10271184" cy="1323439"/>
          </a:xfrm>
          <a:prstGeom prst="rect">
            <a:avLst/>
          </a:prstGeom>
          <a:noFill/>
        </p:spPr>
        <p:txBody>
          <a:bodyPr wrap="square" rtlCol="0">
            <a:spAutoFit/>
          </a:bodyPr>
          <a:lstStyle/>
          <a:p>
            <a:r>
              <a:rPr lang="fr-FR" sz="4000" b="1" dirty="0">
                <a:solidFill>
                  <a:srgbClr val="233F60"/>
                </a:solidFill>
              </a:rPr>
              <a:t>Pharmacogénétique : Quand le traitement standard devient dangereux</a:t>
            </a: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146" y="1756397"/>
            <a:ext cx="11273332" cy="3600708"/>
          </a:xfrm>
          <a:prstGeom prst="rect">
            <a:avLst/>
          </a:prstGeom>
        </p:spPr>
      </p:pic>
      <p:sp>
        <p:nvSpPr>
          <p:cNvPr id="6" name="ZoneTexte 5"/>
          <p:cNvSpPr txBox="1"/>
          <p:nvPr/>
        </p:nvSpPr>
        <p:spPr>
          <a:xfrm>
            <a:off x="545500" y="5357105"/>
            <a:ext cx="11096373" cy="1200329"/>
          </a:xfrm>
          <a:prstGeom prst="rect">
            <a:avLst/>
          </a:prstGeom>
          <a:noFill/>
        </p:spPr>
        <p:txBody>
          <a:bodyPr wrap="square" rtlCol="0">
            <a:spAutoFit/>
          </a:bodyPr>
          <a:lstStyle/>
          <a:p>
            <a:r>
              <a:rPr lang="fr-FR" sz="2400" b="1" dirty="0"/>
              <a:t>90 % des individus </a:t>
            </a:r>
            <a:r>
              <a:rPr lang="fr-FR" sz="2400" dirty="0"/>
              <a:t>portent au moins un variant pharmacogénétique actionnable.</a:t>
            </a:r>
          </a:p>
          <a:p>
            <a:r>
              <a:rPr lang="fr-FR" sz="2400" dirty="0"/>
              <a:t>Sans profil local et l’étude de l’</a:t>
            </a:r>
            <a:r>
              <a:rPr lang="fr-FR" sz="2400" dirty="0" err="1"/>
              <a:t>admixture</a:t>
            </a:r>
            <a:r>
              <a:rPr lang="fr-FR" sz="2400" dirty="0"/>
              <a:t>, impossible d’adapter les posologies pour la population réunionnaise.</a:t>
            </a:r>
          </a:p>
        </p:txBody>
      </p:sp>
      <p:sp>
        <p:nvSpPr>
          <p:cNvPr id="2" name="ZoneTexte 1"/>
          <p:cNvSpPr txBox="1"/>
          <p:nvPr/>
        </p:nvSpPr>
        <p:spPr>
          <a:xfrm>
            <a:off x="8610600" y="6459463"/>
            <a:ext cx="2497540" cy="338554"/>
          </a:xfrm>
          <a:prstGeom prst="rect">
            <a:avLst/>
          </a:prstGeom>
          <a:noFill/>
        </p:spPr>
        <p:txBody>
          <a:bodyPr wrap="square" rtlCol="0">
            <a:spAutoFit/>
          </a:bodyPr>
          <a:lstStyle/>
          <a:p>
            <a:r>
              <a:rPr lang="en-US" baseline="30000" dirty="0"/>
              <a:t>1</a:t>
            </a:r>
            <a:r>
              <a:rPr lang="en-US" sz="1400" dirty="0"/>
              <a:t>Perera MA et </a:t>
            </a:r>
            <a:r>
              <a:rPr lang="en-US" sz="1600" dirty="0"/>
              <a:t>al</a:t>
            </a:r>
            <a:r>
              <a:rPr lang="en-US" sz="1400" dirty="0"/>
              <a:t> 2013 Lancet</a:t>
            </a:r>
            <a:endParaRPr lang="fr-FR" sz="1400" dirty="0"/>
          </a:p>
        </p:txBody>
      </p:sp>
      <p:sp>
        <p:nvSpPr>
          <p:cNvPr id="3" name="Espace réservé du numéro de diapositive 2"/>
          <p:cNvSpPr>
            <a:spLocks noGrp="1"/>
          </p:cNvSpPr>
          <p:nvPr>
            <p:ph type="sldNum" sz="quarter" idx="12"/>
          </p:nvPr>
        </p:nvSpPr>
        <p:spPr/>
        <p:txBody>
          <a:bodyPr/>
          <a:lstStyle/>
          <a:p>
            <a:fld id="{B2D9D3F1-7143-479B-A703-8A73FE76077D}" type="slidenum">
              <a:rPr lang="fr-FR" smtClean="0"/>
              <a:t>7</a:t>
            </a:fld>
            <a:endParaRPr lang="fr-FR" dirty="0"/>
          </a:p>
        </p:txBody>
      </p:sp>
      <p:sp>
        <p:nvSpPr>
          <p:cNvPr id="7" name="ZoneTexte 6">
            <a:extLst>
              <a:ext uri="{FF2B5EF4-FFF2-40B4-BE49-F238E27FC236}">
                <a16:creationId xmlns:a16="http://schemas.microsoft.com/office/drawing/2014/main" id="{9D2F4A8F-50C0-450B-8F65-71D5B5E196A2}"/>
              </a:ext>
            </a:extLst>
          </p:cNvPr>
          <p:cNvSpPr txBox="1"/>
          <p:nvPr/>
        </p:nvSpPr>
        <p:spPr>
          <a:xfrm>
            <a:off x="3222172" y="2772229"/>
            <a:ext cx="263214" cy="276999"/>
          </a:xfrm>
          <a:prstGeom prst="rect">
            <a:avLst/>
          </a:prstGeom>
          <a:noFill/>
        </p:spPr>
        <p:txBody>
          <a:bodyPr wrap="none" rtlCol="0">
            <a:spAutoFit/>
          </a:bodyPr>
          <a:lstStyle/>
          <a:p>
            <a:r>
              <a:rPr lang="fr-FR" sz="1200" dirty="0"/>
              <a:t>1</a:t>
            </a:r>
            <a:endParaRPr lang="fr-FR" dirty="0"/>
          </a:p>
        </p:txBody>
      </p:sp>
      <p:sp>
        <p:nvSpPr>
          <p:cNvPr id="8" name="ZoneTexte 7">
            <a:extLst>
              <a:ext uri="{FF2B5EF4-FFF2-40B4-BE49-F238E27FC236}">
                <a16:creationId xmlns:a16="http://schemas.microsoft.com/office/drawing/2014/main" id="{5CF6386A-C703-4D1F-B145-7F071B4778FE}"/>
              </a:ext>
            </a:extLst>
          </p:cNvPr>
          <p:cNvSpPr txBox="1"/>
          <p:nvPr/>
        </p:nvSpPr>
        <p:spPr>
          <a:xfrm>
            <a:off x="2837543" y="5293563"/>
            <a:ext cx="263214" cy="276999"/>
          </a:xfrm>
          <a:prstGeom prst="rect">
            <a:avLst/>
          </a:prstGeom>
          <a:noFill/>
        </p:spPr>
        <p:txBody>
          <a:bodyPr wrap="none" rtlCol="0">
            <a:spAutoFit/>
          </a:bodyPr>
          <a:lstStyle/>
          <a:p>
            <a:r>
              <a:rPr lang="fr-FR" sz="1200" dirty="0"/>
              <a:t>1</a:t>
            </a:r>
            <a:endParaRPr lang="fr-FR" dirty="0"/>
          </a:p>
        </p:txBody>
      </p:sp>
    </p:spTree>
    <p:extLst>
      <p:ext uri="{BB962C8B-B14F-4D97-AF65-F5344CB8AC3E}">
        <p14:creationId xmlns:p14="http://schemas.microsoft.com/office/powerpoint/2010/main" val="20291231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F3F6"/>
        </a:solidFill>
        <a:effectLst/>
      </p:bgPr>
    </p:bg>
    <p:spTree>
      <p:nvGrpSpPr>
        <p:cNvPr id="1" name=""/>
        <p:cNvGrpSpPr/>
        <p:nvPr/>
      </p:nvGrpSpPr>
      <p:grpSpPr>
        <a:xfrm>
          <a:off x="0" y="0"/>
          <a:ext cx="0" cy="0"/>
          <a:chOff x="0" y="0"/>
          <a:chExt cx="0" cy="0"/>
        </a:xfrm>
      </p:grpSpPr>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409" y="1203501"/>
            <a:ext cx="10861859" cy="4104480"/>
          </a:xfrm>
          <a:prstGeom prst="rect">
            <a:avLst/>
          </a:prstGeom>
        </p:spPr>
      </p:pic>
      <p:sp>
        <p:nvSpPr>
          <p:cNvPr id="5" name="ZoneTexte 4"/>
          <p:cNvSpPr txBox="1"/>
          <p:nvPr/>
        </p:nvSpPr>
        <p:spPr>
          <a:xfrm>
            <a:off x="401273" y="392043"/>
            <a:ext cx="11330549" cy="707886"/>
          </a:xfrm>
          <a:prstGeom prst="rect">
            <a:avLst/>
          </a:prstGeom>
          <a:noFill/>
        </p:spPr>
        <p:txBody>
          <a:bodyPr wrap="square" rtlCol="0">
            <a:spAutoFit/>
          </a:bodyPr>
          <a:lstStyle/>
          <a:p>
            <a:r>
              <a:rPr lang="fr-FR" sz="4000" b="1" dirty="0">
                <a:solidFill>
                  <a:srgbClr val="233F60"/>
                </a:solidFill>
              </a:rPr>
              <a:t>L’Intelligence Artificielle reproduit les biais humains</a:t>
            </a:r>
          </a:p>
        </p:txBody>
      </p:sp>
      <p:sp>
        <p:nvSpPr>
          <p:cNvPr id="6" name="ZoneTexte 5"/>
          <p:cNvSpPr txBox="1"/>
          <p:nvPr/>
        </p:nvSpPr>
        <p:spPr>
          <a:xfrm>
            <a:off x="546409" y="4949888"/>
            <a:ext cx="3691054" cy="461665"/>
          </a:xfrm>
          <a:prstGeom prst="rect">
            <a:avLst/>
          </a:prstGeom>
          <a:noFill/>
        </p:spPr>
        <p:txBody>
          <a:bodyPr wrap="square" rtlCol="0">
            <a:spAutoFit/>
          </a:bodyPr>
          <a:lstStyle/>
          <a:p>
            <a:r>
              <a:rPr lang="fr-FR" sz="2400" b="1" dirty="0" err="1">
                <a:solidFill>
                  <a:srgbClr val="233F60"/>
                </a:solidFill>
              </a:rPr>
              <a:t>Garbage</a:t>
            </a:r>
            <a:r>
              <a:rPr lang="fr-FR" sz="2400" b="1" dirty="0">
                <a:solidFill>
                  <a:srgbClr val="233F60"/>
                </a:solidFill>
              </a:rPr>
              <a:t> in, </a:t>
            </a:r>
            <a:r>
              <a:rPr lang="fr-FR" sz="2400" b="1" dirty="0" err="1">
                <a:solidFill>
                  <a:srgbClr val="233F60"/>
                </a:solidFill>
              </a:rPr>
              <a:t>garbage</a:t>
            </a:r>
            <a:r>
              <a:rPr lang="fr-FR" sz="2400" b="1" dirty="0">
                <a:solidFill>
                  <a:srgbClr val="233F60"/>
                </a:solidFill>
              </a:rPr>
              <a:t> out :</a:t>
            </a:r>
          </a:p>
        </p:txBody>
      </p:sp>
      <p:sp>
        <p:nvSpPr>
          <p:cNvPr id="7" name="ZoneTexte 6"/>
          <p:cNvSpPr txBox="1"/>
          <p:nvPr/>
        </p:nvSpPr>
        <p:spPr>
          <a:xfrm>
            <a:off x="546409" y="5411553"/>
            <a:ext cx="3969834" cy="1015663"/>
          </a:xfrm>
          <a:prstGeom prst="rect">
            <a:avLst/>
          </a:prstGeom>
          <a:noFill/>
        </p:spPr>
        <p:txBody>
          <a:bodyPr wrap="square" rtlCol="0">
            <a:spAutoFit/>
          </a:bodyPr>
          <a:lstStyle/>
          <a:p>
            <a:r>
              <a:rPr lang="fr-FR" sz="2000" dirty="0"/>
              <a:t>Les IA génératives s’entraînent</a:t>
            </a:r>
          </a:p>
          <a:p>
            <a:r>
              <a:rPr lang="fr-FR" sz="2000" dirty="0"/>
              <a:t>sur les bases existantes (TCGA, </a:t>
            </a:r>
            <a:r>
              <a:rPr lang="fr-FR" sz="2000" dirty="0" err="1"/>
              <a:t>gnomAD</a:t>
            </a:r>
            <a:r>
              <a:rPr lang="fr-FR" sz="2000" dirty="0"/>
              <a:t>)</a:t>
            </a:r>
          </a:p>
        </p:txBody>
      </p:sp>
      <p:sp>
        <p:nvSpPr>
          <p:cNvPr id="8" name="ZoneTexte 7"/>
          <p:cNvSpPr txBox="1"/>
          <p:nvPr/>
        </p:nvSpPr>
        <p:spPr>
          <a:xfrm>
            <a:off x="4553415" y="4621103"/>
            <a:ext cx="3691054" cy="461665"/>
          </a:xfrm>
          <a:prstGeom prst="rect">
            <a:avLst/>
          </a:prstGeom>
          <a:noFill/>
        </p:spPr>
        <p:txBody>
          <a:bodyPr wrap="square" rtlCol="0">
            <a:spAutoFit/>
          </a:bodyPr>
          <a:lstStyle/>
          <a:p>
            <a:r>
              <a:rPr lang="fr-FR" sz="2400" b="1" dirty="0">
                <a:solidFill>
                  <a:srgbClr val="233F60"/>
                </a:solidFill>
              </a:rPr>
              <a:t>Le fossé s’élargit :</a:t>
            </a:r>
          </a:p>
        </p:txBody>
      </p:sp>
      <p:sp>
        <p:nvSpPr>
          <p:cNvPr id="9" name="ZoneTexte 8"/>
          <p:cNvSpPr txBox="1"/>
          <p:nvPr/>
        </p:nvSpPr>
        <p:spPr>
          <a:xfrm>
            <a:off x="4553415" y="5082768"/>
            <a:ext cx="3969834" cy="1323439"/>
          </a:xfrm>
          <a:prstGeom prst="rect">
            <a:avLst/>
          </a:prstGeom>
          <a:noFill/>
        </p:spPr>
        <p:txBody>
          <a:bodyPr wrap="square" rtlCol="0">
            <a:spAutoFit/>
          </a:bodyPr>
          <a:lstStyle/>
          <a:p>
            <a:r>
              <a:rPr lang="fr-FR" sz="2000" dirty="0"/>
              <a:t>Si l’IA apprend uniquement sur une </a:t>
            </a:r>
          </a:p>
          <a:p>
            <a:r>
              <a:rPr lang="fr-FR" sz="2000" dirty="0"/>
              <a:t>majorité de génomes européens, les</a:t>
            </a:r>
          </a:p>
          <a:p>
            <a:r>
              <a:rPr lang="fr-FR" sz="2000" dirty="0"/>
              <a:t>futurs médicaments seront moins adaptés pour La Réunion.</a:t>
            </a:r>
          </a:p>
        </p:txBody>
      </p:sp>
      <p:sp>
        <p:nvSpPr>
          <p:cNvPr id="10" name="ZoneTexte 9"/>
          <p:cNvSpPr txBox="1"/>
          <p:nvPr/>
        </p:nvSpPr>
        <p:spPr>
          <a:xfrm>
            <a:off x="8662639" y="4621103"/>
            <a:ext cx="3691054" cy="461665"/>
          </a:xfrm>
          <a:prstGeom prst="rect">
            <a:avLst/>
          </a:prstGeom>
          <a:noFill/>
        </p:spPr>
        <p:txBody>
          <a:bodyPr wrap="square" rtlCol="0">
            <a:spAutoFit/>
          </a:bodyPr>
          <a:lstStyle/>
          <a:p>
            <a:r>
              <a:rPr lang="fr-FR" sz="2400" b="1" dirty="0">
                <a:solidFill>
                  <a:srgbClr val="233F60"/>
                </a:solidFill>
              </a:rPr>
              <a:t>Urgence :</a:t>
            </a:r>
          </a:p>
        </p:txBody>
      </p:sp>
      <p:sp>
        <p:nvSpPr>
          <p:cNvPr id="11" name="ZoneTexte 10"/>
          <p:cNvSpPr txBox="1"/>
          <p:nvPr/>
        </p:nvSpPr>
        <p:spPr>
          <a:xfrm>
            <a:off x="8662639" y="5082767"/>
            <a:ext cx="3969834" cy="1323439"/>
          </a:xfrm>
          <a:prstGeom prst="rect">
            <a:avLst/>
          </a:prstGeom>
          <a:noFill/>
        </p:spPr>
        <p:txBody>
          <a:bodyPr wrap="square" rtlCol="0">
            <a:spAutoFit/>
          </a:bodyPr>
          <a:lstStyle/>
          <a:p>
            <a:r>
              <a:rPr lang="fr-FR" sz="2000" dirty="0"/>
              <a:t>Intégrer la diversité</a:t>
            </a:r>
          </a:p>
          <a:p>
            <a:r>
              <a:rPr lang="fr-FR" sz="2000" dirty="0"/>
              <a:t>réunionnaise avant que les</a:t>
            </a:r>
          </a:p>
          <a:p>
            <a:r>
              <a:rPr lang="fr-FR" sz="2000" dirty="0"/>
              <a:t>standards de demain ne</a:t>
            </a:r>
          </a:p>
          <a:p>
            <a:r>
              <a:rPr lang="fr-FR" sz="2000" dirty="0"/>
              <a:t>soient figés.</a:t>
            </a:r>
          </a:p>
        </p:txBody>
      </p:sp>
      <p:sp>
        <p:nvSpPr>
          <p:cNvPr id="2" name="ZoneTexte 1"/>
          <p:cNvSpPr txBox="1"/>
          <p:nvPr/>
        </p:nvSpPr>
        <p:spPr>
          <a:xfrm>
            <a:off x="136976" y="6502613"/>
            <a:ext cx="3834522" cy="307777"/>
          </a:xfrm>
          <a:prstGeom prst="rect">
            <a:avLst/>
          </a:prstGeom>
          <a:noFill/>
        </p:spPr>
        <p:txBody>
          <a:bodyPr wrap="square" rtlCol="0">
            <a:spAutoFit/>
          </a:bodyPr>
          <a:lstStyle/>
          <a:p>
            <a:r>
              <a:rPr lang="en-US" sz="1400" dirty="0" err="1"/>
              <a:t>Ocana</a:t>
            </a:r>
            <a:r>
              <a:rPr lang="en-US" sz="1400" dirty="0"/>
              <a:t> A et al 2025 </a:t>
            </a:r>
            <a:r>
              <a:rPr lang="fr-FR" sz="1400" dirty="0" err="1"/>
              <a:t>Biomark</a:t>
            </a:r>
            <a:r>
              <a:rPr lang="fr-FR" sz="1400" dirty="0"/>
              <a:t> </a:t>
            </a:r>
            <a:r>
              <a:rPr lang="fr-FR" sz="1400" dirty="0" err="1"/>
              <a:t>Res</a:t>
            </a:r>
            <a:endParaRPr lang="fr-FR" sz="1400" dirty="0"/>
          </a:p>
        </p:txBody>
      </p:sp>
      <p:sp>
        <p:nvSpPr>
          <p:cNvPr id="3" name="Espace réservé du numéro de diapositive 2"/>
          <p:cNvSpPr>
            <a:spLocks noGrp="1"/>
          </p:cNvSpPr>
          <p:nvPr>
            <p:ph type="sldNum" sz="quarter" idx="12"/>
          </p:nvPr>
        </p:nvSpPr>
        <p:spPr/>
        <p:txBody>
          <a:bodyPr/>
          <a:lstStyle/>
          <a:p>
            <a:fld id="{B2D9D3F1-7143-479B-A703-8A73FE76077D}" type="slidenum">
              <a:rPr lang="fr-FR" smtClean="0"/>
              <a:t>8</a:t>
            </a:fld>
            <a:endParaRPr lang="fr-FR" dirty="0"/>
          </a:p>
        </p:txBody>
      </p:sp>
    </p:spTree>
    <p:extLst>
      <p:ext uri="{BB962C8B-B14F-4D97-AF65-F5344CB8AC3E}">
        <p14:creationId xmlns:p14="http://schemas.microsoft.com/office/powerpoint/2010/main" val="38937659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F3F6"/>
        </a:solidFill>
        <a:effectLst/>
      </p:bgPr>
    </p:bg>
    <p:spTree>
      <p:nvGrpSpPr>
        <p:cNvPr id="1" name=""/>
        <p:cNvGrpSpPr/>
        <p:nvPr/>
      </p:nvGrpSpPr>
      <p:grpSpPr>
        <a:xfrm>
          <a:off x="0" y="0"/>
          <a:ext cx="0" cy="0"/>
          <a:chOff x="0" y="0"/>
          <a:chExt cx="0" cy="0"/>
        </a:xfrm>
      </p:grpSpPr>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802" y="1484114"/>
            <a:ext cx="11272565" cy="3411772"/>
          </a:xfrm>
          <a:prstGeom prst="rect">
            <a:avLst/>
          </a:prstGeom>
        </p:spPr>
      </p:pic>
      <p:sp>
        <p:nvSpPr>
          <p:cNvPr id="5" name="ZoneTexte 4"/>
          <p:cNvSpPr txBox="1"/>
          <p:nvPr/>
        </p:nvSpPr>
        <p:spPr>
          <a:xfrm>
            <a:off x="1250279" y="653117"/>
            <a:ext cx="9797613" cy="830997"/>
          </a:xfrm>
          <a:prstGeom prst="rect">
            <a:avLst/>
          </a:prstGeom>
          <a:noFill/>
        </p:spPr>
        <p:txBody>
          <a:bodyPr wrap="square" rtlCol="0">
            <a:spAutoFit/>
          </a:bodyPr>
          <a:lstStyle/>
          <a:p>
            <a:r>
              <a:rPr lang="fr-FR" sz="4800" b="1" dirty="0">
                <a:solidFill>
                  <a:srgbClr val="233F60"/>
                </a:solidFill>
              </a:rPr>
              <a:t>La Solution : Projet Génome Réunion</a:t>
            </a:r>
          </a:p>
        </p:txBody>
      </p:sp>
      <p:sp>
        <p:nvSpPr>
          <p:cNvPr id="6" name="ZoneTexte 5"/>
          <p:cNvSpPr txBox="1"/>
          <p:nvPr/>
        </p:nvSpPr>
        <p:spPr>
          <a:xfrm>
            <a:off x="512803" y="5219051"/>
            <a:ext cx="2286154" cy="923330"/>
          </a:xfrm>
          <a:prstGeom prst="rect">
            <a:avLst/>
          </a:prstGeom>
          <a:noFill/>
        </p:spPr>
        <p:txBody>
          <a:bodyPr wrap="square" rtlCol="0">
            <a:spAutoFit/>
          </a:bodyPr>
          <a:lstStyle/>
          <a:p>
            <a:pPr algn="ctr"/>
            <a:r>
              <a:rPr lang="fr-FR" dirty="0"/>
              <a:t>Sélection de donneurs </a:t>
            </a:r>
          </a:p>
          <a:p>
            <a:pPr algn="ctr"/>
            <a:r>
              <a:rPr lang="fr-FR" dirty="0"/>
              <a:t>volontaires reflétant la </a:t>
            </a:r>
          </a:p>
          <a:p>
            <a:pPr algn="ctr"/>
            <a:r>
              <a:rPr lang="fr-FR" dirty="0"/>
              <a:t>diversité de l’île.</a:t>
            </a:r>
          </a:p>
        </p:txBody>
      </p:sp>
      <p:sp>
        <p:nvSpPr>
          <p:cNvPr id="7" name="ZoneTexte 6"/>
          <p:cNvSpPr txBox="1"/>
          <p:nvPr/>
        </p:nvSpPr>
        <p:spPr>
          <a:xfrm>
            <a:off x="3453007" y="5219051"/>
            <a:ext cx="2423685" cy="923330"/>
          </a:xfrm>
          <a:prstGeom prst="rect">
            <a:avLst/>
          </a:prstGeom>
          <a:noFill/>
        </p:spPr>
        <p:txBody>
          <a:bodyPr wrap="square" rtlCol="0">
            <a:spAutoFit/>
          </a:bodyPr>
          <a:lstStyle/>
          <a:p>
            <a:pPr algn="ctr"/>
            <a:r>
              <a:rPr lang="fr-FR" dirty="0"/>
              <a:t>Analyse de la structure</a:t>
            </a:r>
          </a:p>
          <a:p>
            <a:pPr algn="ctr"/>
            <a:r>
              <a:rPr lang="fr-FR" dirty="0"/>
              <a:t>génétique (PCA) et</a:t>
            </a:r>
          </a:p>
          <a:p>
            <a:pPr algn="ctr"/>
            <a:r>
              <a:rPr lang="fr-FR" dirty="0"/>
              <a:t>sélection des profils.</a:t>
            </a:r>
          </a:p>
        </p:txBody>
      </p:sp>
      <p:sp>
        <p:nvSpPr>
          <p:cNvPr id="8" name="ZoneTexte 7"/>
          <p:cNvSpPr txBox="1"/>
          <p:nvPr/>
        </p:nvSpPr>
        <p:spPr>
          <a:xfrm>
            <a:off x="6393211" y="5219051"/>
            <a:ext cx="2423685" cy="923330"/>
          </a:xfrm>
          <a:prstGeom prst="rect">
            <a:avLst/>
          </a:prstGeom>
          <a:noFill/>
        </p:spPr>
        <p:txBody>
          <a:bodyPr wrap="square" rtlCol="0">
            <a:spAutoFit/>
          </a:bodyPr>
          <a:lstStyle/>
          <a:p>
            <a:pPr algn="ctr"/>
            <a:r>
              <a:rPr lang="fr-FR" dirty="0"/>
              <a:t>Séquençage complet</a:t>
            </a:r>
          </a:p>
          <a:p>
            <a:pPr algn="ctr"/>
            <a:r>
              <a:rPr lang="fr-FR" dirty="0"/>
              <a:t>pour capturer toute la</a:t>
            </a:r>
          </a:p>
          <a:p>
            <a:pPr algn="ctr"/>
            <a:r>
              <a:rPr lang="fr-FR" dirty="0"/>
              <a:t>variabilité.</a:t>
            </a:r>
          </a:p>
        </p:txBody>
      </p:sp>
      <p:sp>
        <p:nvSpPr>
          <p:cNvPr id="9" name="ZoneTexte 8"/>
          <p:cNvSpPr txBox="1"/>
          <p:nvPr/>
        </p:nvSpPr>
        <p:spPr>
          <a:xfrm>
            <a:off x="9333415" y="5219051"/>
            <a:ext cx="2423685" cy="923330"/>
          </a:xfrm>
          <a:prstGeom prst="rect">
            <a:avLst/>
          </a:prstGeom>
          <a:noFill/>
        </p:spPr>
        <p:txBody>
          <a:bodyPr wrap="square" rtlCol="0">
            <a:spAutoFit/>
          </a:bodyPr>
          <a:lstStyle/>
          <a:p>
            <a:pPr algn="ctr"/>
            <a:r>
              <a:rPr lang="fr-FR" dirty="0"/>
              <a:t>Création du référentiel</a:t>
            </a:r>
          </a:p>
          <a:p>
            <a:pPr algn="ctr"/>
            <a:r>
              <a:rPr lang="fr-FR" dirty="0"/>
              <a:t>de variants</a:t>
            </a:r>
          </a:p>
          <a:p>
            <a:pPr algn="ctr"/>
            <a:r>
              <a:rPr lang="fr-FR" dirty="0"/>
              <a:t>réunionnais.</a:t>
            </a:r>
          </a:p>
        </p:txBody>
      </p:sp>
      <p:sp>
        <p:nvSpPr>
          <p:cNvPr id="10" name="ZoneTexte 9"/>
          <p:cNvSpPr txBox="1"/>
          <p:nvPr/>
        </p:nvSpPr>
        <p:spPr>
          <a:xfrm>
            <a:off x="1655880" y="6234713"/>
            <a:ext cx="9829876" cy="400110"/>
          </a:xfrm>
          <a:prstGeom prst="rect">
            <a:avLst/>
          </a:prstGeom>
          <a:noFill/>
        </p:spPr>
        <p:txBody>
          <a:bodyPr wrap="square" rtlCol="0">
            <a:spAutoFit/>
          </a:bodyPr>
          <a:lstStyle/>
          <a:p>
            <a:r>
              <a:rPr lang="fr-FR" sz="2000" dirty="0"/>
              <a:t>Partenariat avec EFS, Illumina, </a:t>
            </a:r>
            <a:r>
              <a:rPr lang="fr-FR" sz="2000" dirty="0" err="1"/>
              <a:t>Epitech</a:t>
            </a:r>
            <a:r>
              <a:rPr lang="fr-FR" sz="2000" dirty="0"/>
              <a:t>, </a:t>
            </a:r>
            <a:r>
              <a:rPr lang="fr-FR" sz="2000" dirty="0" err="1"/>
              <a:t>Popgen</a:t>
            </a:r>
            <a:r>
              <a:rPr lang="fr-FR" sz="2000" dirty="0"/>
              <a:t> et le CHU de La Réunion.</a:t>
            </a:r>
          </a:p>
        </p:txBody>
      </p:sp>
      <p:sp>
        <p:nvSpPr>
          <p:cNvPr id="2" name="Espace réservé du numéro de diapositive 1"/>
          <p:cNvSpPr>
            <a:spLocks noGrp="1"/>
          </p:cNvSpPr>
          <p:nvPr>
            <p:ph type="sldNum" sz="quarter" idx="12"/>
          </p:nvPr>
        </p:nvSpPr>
        <p:spPr/>
        <p:txBody>
          <a:bodyPr/>
          <a:lstStyle/>
          <a:p>
            <a:fld id="{B2D9D3F1-7143-479B-A703-8A73FE76077D}" type="slidenum">
              <a:rPr lang="fr-FR" smtClean="0"/>
              <a:t>9</a:t>
            </a:fld>
            <a:endParaRPr lang="fr-FR" dirty="0"/>
          </a:p>
        </p:txBody>
      </p:sp>
    </p:spTree>
    <p:extLst>
      <p:ext uri="{BB962C8B-B14F-4D97-AF65-F5344CB8AC3E}">
        <p14:creationId xmlns:p14="http://schemas.microsoft.com/office/powerpoint/2010/main" val="18029411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F3F6"/>
        </a:solidFill>
        <a:effectLst/>
      </p:bgPr>
    </p:bg>
    <p:spTree>
      <p:nvGrpSpPr>
        <p:cNvPr id="1" name=""/>
        <p:cNvGrpSpPr/>
        <p:nvPr/>
      </p:nvGrpSpPr>
      <p:grpSpPr>
        <a:xfrm>
          <a:off x="0" y="0"/>
          <a:ext cx="0" cy="0"/>
          <a:chOff x="0" y="0"/>
          <a:chExt cx="0" cy="0"/>
        </a:xfrm>
      </p:grpSpPr>
      <p:sp>
        <p:nvSpPr>
          <p:cNvPr id="4" name="ZoneTexte 3"/>
          <p:cNvSpPr txBox="1"/>
          <p:nvPr/>
        </p:nvSpPr>
        <p:spPr>
          <a:xfrm>
            <a:off x="1250279" y="653117"/>
            <a:ext cx="9797613" cy="830997"/>
          </a:xfrm>
          <a:prstGeom prst="rect">
            <a:avLst/>
          </a:prstGeom>
          <a:noFill/>
        </p:spPr>
        <p:txBody>
          <a:bodyPr wrap="square" rtlCol="0">
            <a:spAutoFit/>
          </a:bodyPr>
          <a:lstStyle/>
          <a:p>
            <a:r>
              <a:rPr lang="fr-FR" sz="4800" b="1" dirty="0">
                <a:solidFill>
                  <a:srgbClr val="233F60"/>
                </a:solidFill>
              </a:rPr>
              <a:t>Impact &amp; Bénéfices Attendus</a:t>
            </a: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921" y="1484113"/>
            <a:ext cx="11001495" cy="4961291"/>
          </a:xfrm>
          <a:prstGeom prst="rect">
            <a:avLst/>
          </a:prstGeom>
        </p:spPr>
      </p:pic>
      <p:sp>
        <p:nvSpPr>
          <p:cNvPr id="2" name="Espace réservé du numéro de diapositive 1"/>
          <p:cNvSpPr>
            <a:spLocks noGrp="1"/>
          </p:cNvSpPr>
          <p:nvPr>
            <p:ph type="sldNum" sz="quarter" idx="12"/>
          </p:nvPr>
        </p:nvSpPr>
        <p:spPr/>
        <p:txBody>
          <a:bodyPr/>
          <a:lstStyle/>
          <a:p>
            <a:fld id="{B2D9D3F1-7143-479B-A703-8A73FE76077D}" type="slidenum">
              <a:rPr lang="fr-FR" smtClean="0"/>
              <a:t>10</a:t>
            </a:fld>
            <a:endParaRPr lang="fr-FR" dirty="0"/>
          </a:p>
        </p:txBody>
      </p:sp>
    </p:spTree>
    <p:extLst>
      <p:ext uri="{BB962C8B-B14F-4D97-AF65-F5344CB8AC3E}">
        <p14:creationId xmlns:p14="http://schemas.microsoft.com/office/powerpoint/2010/main" val="768305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F3F6"/>
        </a:solidFill>
        <a:effectLst/>
      </p:bgPr>
    </p:bg>
    <p:spTree>
      <p:nvGrpSpPr>
        <p:cNvPr id="1" name=""/>
        <p:cNvGrpSpPr/>
        <p:nvPr/>
      </p:nvGrpSpPr>
      <p:grpSpPr>
        <a:xfrm>
          <a:off x="0" y="0"/>
          <a:ext cx="0" cy="0"/>
          <a:chOff x="0" y="0"/>
          <a:chExt cx="0" cy="0"/>
        </a:xfrm>
      </p:grpSpPr>
      <p:sp>
        <p:nvSpPr>
          <p:cNvPr id="4" name="ZoneTexte 3"/>
          <p:cNvSpPr txBox="1"/>
          <p:nvPr/>
        </p:nvSpPr>
        <p:spPr>
          <a:xfrm>
            <a:off x="1250279" y="653117"/>
            <a:ext cx="9797613" cy="830997"/>
          </a:xfrm>
          <a:prstGeom prst="rect">
            <a:avLst/>
          </a:prstGeom>
          <a:noFill/>
        </p:spPr>
        <p:txBody>
          <a:bodyPr wrap="square" rtlCol="0">
            <a:spAutoFit/>
          </a:bodyPr>
          <a:lstStyle/>
          <a:p>
            <a:r>
              <a:rPr lang="fr-FR" sz="4800" b="1" dirty="0">
                <a:solidFill>
                  <a:srgbClr val="233F60"/>
                </a:solidFill>
              </a:rPr>
              <a:t>Une ambition Scientifique Globale</a:t>
            </a: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845" y="1579936"/>
            <a:ext cx="10058400" cy="3514281"/>
          </a:xfrm>
          <a:prstGeom prst="rect">
            <a:avLst/>
          </a:prstGeom>
        </p:spPr>
      </p:pic>
      <p:sp>
        <p:nvSpPr>
          <p:cNvPr id="6" name="ZoneTexte 5"/>
          <p:cNvSpPr txBox="1"/>
          <p:nvPr/>
        </p:nvSpPr>
        <p:spPr>
          <a:xfrm>
            <a:off x="546409" y="4949888"/>
            <a:ext cx="3969834" cy="461665"/>
          </a:xfrm>
          <a:prstGeom prst="rect">
            <a:avLst/>
          </a:prstGeom>
          <a:noFill/>
        </p:spPr>
        <p:txBody>
          <a:bodyPr wrap="square" rtlCol="0">
            <a:spAutoFit/>
          </a:bodyPr>
          <a:lstStyle/>
          <a:p>
            <a:r>
              <a:rPr lang="fr-FR" sz="2400" b="1" dirty="0">
                <a:solidFill>
                  <a:srgbClr val="233F60"/>
                </a:solidFill>
              </a:rPr>
              <a:t>Enrichir la science mondiale :</a:t>
            </a:r>
          </a:p>
        </p:txBody>
      </p:sp>
      <p:sp>
        <p:nvSpPr>
          <p:cNvPr id="7" name="ZoneTexte 6"/>
          <p:cNvSpPr txBox="1"/>
          <p:nvPr/>
        </p:nvSpPr>
        <p:spPr>
          <a:xfrm>
            <a:off x="546409" y="5511913"/>
            <a:ext cx="3969834" cy="707886"/>
          </a:xfrm>
          <a:prstGeom prst="rect">
            <a:avLst/>
          </a:prstGeom>
          <a:noFill/>
        </p:spPr>
        <p:txBody>
          <a:bodyPr wrap="square" rtlCol="0">
            <a:spAutoFit/>
          </a:bodyPr>
          <a:lstStyle/>
          <a:p>
            <a:r>
              <a:rPr lang="fr-FR" sz="2000" dirty="0"/>
              <a:t>Transformer La Réunion de ‘point aveugle’ en ‘modèle de diversité’.</a:t>
            </a:r>
          </a:p>
        </p:txBody>
      </p:sp>
      <p:sp>
        <p:nvSpPr>
          <p:cNvPr id="8" name="ZoneTexte 7"/>
          <p:cNvSpPr txBox="1"/>
          <p:nvPr/>
        </p:nvSpPr>
        <p:spPr>
          <a:xfrm>
            <a:off x="4600807" y="4949888"/>
            <a:ext cx="3969834" cy="461665"/>
          </a:xfrm>
          <a:prstGeom prst="rect">
            <a:avLst/>
          </a:prstGeom>
          <a:noFill/>
        </p:spPr>
        <p:txBody>
          <a:bodyPr wrap="square" rtlCol="0">
            <a:spAutoFit/>
          </a:bodyPr>
          <a:lstStyle/>
          <a:p>
            <a:r>
              <a:rPr lang="fr-FR" sz="2400" b="1" dirty="0">
                <a:solidFill>
                  <a:srgbClr val="233F60"/>
                </a:solidFill>
              </a:rPr>
              <a:t>Correction des outils :</a:t>
            </a:r>
          </a:p>
        </p:txBody>
      </p:sp>
      <p:sp>
        <p:nvSpPr>
          <p:cNvPr id="9" name="ZoneTexte 8"/>
          <p:cNvSpPr txBox="1"/>
          <p:nvPr/>
        </p:nvSpPr>
        <p:spPr>
          <a:xfrm>
            <a:off x="4600807" y="5511913"/>
            <a:ext cx="3969834" cy="707886"/>
          </a:xfrm>
          <a:prstGeom prst="rect">
            <a:avLst/>
          </a:prstGeom>
          <a:noFill/>
        </p:spPr>
        <p:txBody>
          <a:bodyPr wrap="square" rtlCol="0">
            <a:spAutoFit/>
          </a:bodyPr>
          <a:lstStyle/>
          <a:p>
            <a:r>
              <a:rPr lang="fr-FR" sz="2000" dirty="0"/>
              <a:t>calibrage des scores prédictifs</a:t>
            </a:r>
          </a:p>
          <a:p>
            <a:r>
              <a:rPr lang="fr-FR" sz="2000" dirty="0"/>
              <a:t>pour les population métissées</a:t>
            </a:r>
          </a:p>
        </p:txBody>
      </p:sp>
      <p:sp>
        <p:nvSpPr>
          <p:cNvPr id="10" name="ZoneTexte 9"/>
          <p:cNvSpPr txBox="1"/>
          <p:nvPr/>
        </p:nvSpPr>
        <p:spPr>
          <a:xfrm>
            <a:off x="8355051" y="4949888"/>
            <a:ext cx="3969834" cy="461665"/>
          </a:xfrm>
          <a:prstGeom prst="rect">
            <a:avLst/>
          </a:prstGeom>
          <a:noFill/>
        </p:spPr>
        <p:txBody>
          <a:bodyPr wrap="square" rtlCol="0">
            <a:spAutoFit/>
          </a:bodyPr>
          <a:lstStyle/>
          <a:p>
            <a:r>
              <a:rPr lang="fr-FR" sz="2400" b="1" dirty="0">
                <a:solidFill>
                  <a:srgbClr val="233F60"/>
                </a:solidFill>
              </a:rPr>
              <a:t>Etude d’</a:t>
            </a:r>
            <a:r>
              <a:rPr lang="fr-FR" sz="2400" b="1" dirty="0" err="1">
                <a:solidFill>
                  <a:srgbClr val="233F60"/>
                </a:solidFill>
              </a:rPr>
              <a:t>admixture</a:t>
            </a:r>
            <a:r>
              <a:rPr lang="fr-FR" sz="2400" b="1" dirty="0">
                <a:solidFill>
                  <a:srgbClr val="233F60"/>
                </a:solidFill>
              </a:rPr>
              <a:t> :</a:t>
            </a:r>
          </a:p>
        </p:txBody>
      </p:sp>
      <p:sp>
        <p:nvSpPr>
          <p:cNvPr id="11" name="ZoneTexte 10"/>
          <p:cNvSpPr txBox="1"/>
          <p:nvPr/>
        </p:nvSpPr>
        <p:spPr>
          <a:xfrm>
            <a:off x="8355051" y="5511913"/>
            <a:ext cx="3969834" cy="1323439"/>
          </a:xfrm>
          <a:prstGeom prst="rect">
            <a:avLst/>
          </a:prstGeom>
          <a:noFill/>
        </p:spPr>
        <p:txBody>
          <a:bodyPr wrap="square" rtlCol="0">
            <a:spAutoFit/>
          </a:bodyPr>
          <a:lstStyle/>
          <a:p>
            <a:r>
              <a:rPr lang="fr-FR" sz="2000" dirty="0"/>
              <a:t>Faire le lien entre posologie et</a:t>
            </a:r>
          </a:p>
          <a:p>
            <a:r>
              <a:rPr lang="fr-FR" sz="2000" dirty="0" err="1"/>
              <a:t>admixture</a:t>
            </a:r>
            <a:r>
              <a:rPr lang="fr-FR" sz="2000" dirty="0"/>
              <a:t>, impact du métissage, épigénétique … </a:t>
            </a:r>
          </a:p>
          <a:p>
            <a:endParaRPr lang="fr-FR" sz="2000" dirty="0"/>
          </a:p>
        </p:txBody>
      </p:sp>
      <p:sp>
        <p:nvSpPr>
          <p:cNvPr id="2" name="Espace réservé du numéro de diapositive 1"/>
          <p:cNvSpPr>
            <a:spLocks noGrp="1"/>
          </p:cNvSpPr>
          <p:nvPr>
            <p:ph type="sldNum" sz="quarter" idx="12"/>
          </p:nvPr>
        </p:nvSpPr>
        <p:spPr/>
        <p:txBody>
          <a:bodyPr/>
          <a:lstStyle/>
          <a:p>
            <a:fld id="{B2D9D3F1-7143-479B-A703-8A73FE76077D}" type="slidenum">
              <a:rPr lang="fr-FR" smtClean="0"/>
              <a:t>11</a:t>
            </a:fld>
            <a:endParaRPr lang="fr-FR" dirty="0"/>
          </a:p>
        </p:txBody>
      </p:sp>
    </p:spTree>
    <p:extLst>
      <p:ext uri="{BB962C8B-B14F-4D97-AF65-F5344CB8AC3E}">
        <p14:creationId xmlns:p14="http://schemas.microsoft.com/office/powerpoint/2010/main" val="24063158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F3F6"/>
        </a:solidFill>
        <a:effectLst/>
      </p:bgPr>
    </p:bg>
    <p:spTree>
      <p:nvGrpSpPr>
        <p:cNvPr id="1" name=""/>
        <p:cNvGrpSpPr/>
        <p:nvPr/>
      </p:nvGrpSpPr>
      <p:grpSpPr>
        <a:xfrm>
          <a:off x="0" y="0"/>
          <a:ext cx="0" cy="0"/>
          <a:chOff x="0" y="0"/>
          <a:chExt cx="0" cy="0"/>
        </a:xfrm>
      </p:grpSpPr>
      <p:sp>
        <p:nvSpPr>
          <p:cNvPr id="4" name="ZoneTexte 3"/>
          <p:cNvSpPr txBox="1"/>
          <p:nvPr/>
        </p:nvSpPr>
        <p:spPr>
          <a:xfrm>
            <a:off x="847493" y="653117"/>
            <a:ext cx="10367668" cy="1015663"/>
          </a:xfrm>
          <a:prstGeom prst="rect">
            <a:avLst/>
          </a:prstGeom>
          <a:noFill/>
        </p:spPr>
        <p:txBody>
          <a:bodyPr wrap="square" rtlCol="0">
            <a:spAutoFit/>
          </a:bodyPr>
          <a:lstStyle/>
          <a:p>
            <a:r>
              <a:rPr lang="fr-FR" sz="6000" b="1" dirty="0">
                <a:solidFill>
                  <a:srgbClr val="233F60"/>
                </a:solidFill>
              </a:rPr>
              <a:t>Vers une équité réelle en santé</a:t>
            </a:r>
          </a:p>
        </p:txBody>
      </p:sp>
      <p:pic>
        <p:nvPicPr>
          <p:cNvPr id="5" name="Image 4"/>
          <p:cNvPicPr>
            <a:picLocks noChangeAspect="1"/>
          </p:cNvPicPr>
          <p:nvPr/>
        </p:nvPicPr>
        <p:blipFill rotWithShape="1">
          <a:blip r:embed="rId3">
            <a:extLst>
              <a:ext uri="{28A0092B-C50C-407E-A947-70E740481C1C}">
                <a14:useLocalDpi xmlns:a14="http://schemas.microsoft.com/office/drawing/2010/main" val="0"/>
              </a:ext>
            </a:extLst>
          </a:blip>
          <a:srcRect l="754" r="849"/>
          <a:stretch/>
        </p:blipFill>
        <p:spPr>
          <a:xfrm>
            <a:off x="0" y="1668780"/>
            <a:ext cx="11864898" cy="3829831"/>
          </a:xfrm>
          <a:prstGeom prst="rect">
            <a:avLst/>
          </a:prstGeom>
        </p:spPr>
      </p:pic>
      <p:sp>
        <p:nvSpPr>
          <p:cNvPr id="6" name="ZoneTexte 5"/>
          <p:cNvSpPr txBox="1"/>
          <p:nvPr/>
        </p:nvSpPr>
        <p:spPr>
          <a:xfrm>
            <a:off x="4546107" y="4076036"/>
            <a:ext cx="6939649" cy="1661993"/>
          </a:xfrm>
          <a:prstGeom prst="rect">
            <a:avLst/>
          </a:prstGeom>
          <a:noFill/>
        </p:spPr>
        <p:txBody>
          <a:bodyPr wrap="square" rtlCol="0">
            <a:spAutoFit/>
          </a:bodyPr>
          <a:lstStyle/>
          <a:p>
            <a:r>
              <a:rPr lang="fr-FR" sz="3400" dirty="0"/>
              <a:t>Le Projet Génome Réunion n’est pas</a:t>
            </a:r>
          </a:p>
          <a:p>
            <a:r>
              <a:rPr lang="fr-FR" sz="3400" dirty="0"/>
              <a:t>seulement une nécessité scientifique,</a:t>
            </a:r>
          </a:p>
          <a:p>
            <a:r>
              <a:rPr lang="fr-FR" sz="3400" dirty="0"/>
              <a:t>c’est un impératif de santé publique.</a:t>
            </a:r>
          </a:p>
        </p:txBody>
      </p:sp>
      <p:sp>
        <p:nvSpPr>
          <p:cNvPr id="7" name="ZoneTexte 6"/>
          <p:cNvSpPr txBox="1"/>
          <p:nvPr/>
        </p:nvSpPr>
        <p:spPr>
          <a:xfrm>
            <a:off x="602012" y="5651390"/>
            <a:ext cx="10504601" cy="461665"/>
          </a:xfrm>
          <a:prstGeom prst="rect">
            <a:avLst/>
          </a:prstGeom>
          <a:noFill/>
        </p:spPr>
        <p:txBody>
          <a:bodyPr wrap="square" rtlCol="0">
            <a:spAutoFit/>
          </a:bodyPr>
          <a:lstStyle/>
          <a:p>
            <a:r>
              <a:rPr lang="fr-FR" sz="2400" dirty="0"/>
              <a:t>Ne pas agir, c’est accepter que l’innovation médicale de demain se fasse sans nous. </a:t>
            </a:r>
          </a:p>
        </p:txBody>
      </p:sp>
      <p:sp>
        <p:nvSpPr>
          <p:cNvPr id="8" name="ZoneTexte 7"/>
          <p:cNvSpPr txBox="1"/>
          <p:nvPr/>
        </p:nvSpPr>
        <p:spPr>
          <a:xfrm>
            <a:off x="2763630" y="6212040"/>
            <a:ext cx="10504601" cy="461665"/>
          </a:xfrm>
          <a:prstGeom prst="rect">
            <a:avLst/>
          </a:prstGeom>
          <a:noFill/>
        </p:spPr>
        <p:txBody>
          <a:bodyPr wrap="square" rtlCol="0">
            <a:spAutoFit/>
          </a:bodyPr>
          <a:lstStyle/>
          <a:p>
            <a:r>
              <a:rPr lang="fr-FR" sz="2400" b="1" dirty="0"/>
              <a:t>Objectif : Un référentiel opérationnel pour 2030 </a:t>
            </a:r>
          </a:p>
        </p:txBody>
      </p:sp>
      <p:sp>
        <p:nvSpPr>
          <p:cNvPr id="2" name="Espace réservé du numéro de diapositive 1"/>
          <p:cNvSpPr>
            <a:spLocks noGrp="1"/>
          </p:cNvSpPr>
          <p:nvPr>
            <p:ph type="sldNum" sz="quarter" idx="12"/>
          </p:nvPr>
        </p:nvSpPr>
        <p:spPr/>
        <p:txBody>
          <a:bodyPr/>
          <a:lstStyle/>
          <a:p>
            <a:fld id="{B2D9D3F1-7143-479B-A703-8A73FE76077D}" type="slidenum">
              <a:rPr lang="fr-FR" smtClean="0"/>
              <a:t>12</a:t>
            </a:fld>
            <a:endParaRPr lang="fr-FR" dirty="0"/>
          </a:p>
        </p:txBody>
      </p:sp>
    </p:spTree>
    <p:extLst>
      <p:ext uri="{BB962C8B-B14F-4D97-AF65-F5344CB8AC3E}">
        <p14:creationId xmlns:p14="http://schemas.microsoft.com/office/powerpoint/2010/main" val="555483207"/>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975</TotalTime>
  <Words>2344</Words>
  <Application>Microsoft Office PowerPoint</Application>
  <PresentationFormat>Grand écran</PresentationFormat>
  <Paragraphs>203</Paragraphs>
  <Slides>12</Slides>
  <Notes>12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12</vt:i4>
      </vt:variant>
    </vt:vector>
  </HeadingPairs>
  <TitlesOfParts>
    <vt:vector size="16" baseType="lpstr">
      <vt:lpstr>Arial</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CHU DE LA REUNION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UTILISATEUR G02647</dc:creator>
  <cp:lastModifiedBy>UTILISATEUR G02647</cp:lastModifiedBy>
  <cp:revision>71</cp:revision>
  <dcterms:created xsi:type="dcterms:W3CDTF">2026-03-02T04:43:49Z</dcterms:created>
  <dcterms:modified xsi:type="dcterms:W3CDTF">2026-03-04T08:44:35Z</dcterms:modified>
</cp:coreProperties>
</file>